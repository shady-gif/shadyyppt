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40.png" Type="http://schemas.openxmlformats.org/officeDocument/2006/relationships/image"/><Relationship Id="rId14" Target="../media/image41.svg" Type="http://schemas.openxmlformats.org/officeDocument/2006/relationships/image"/><Relationship Id="rId15" Target="../media/image42.png" Type="http://schemas.openxmlformats.org/officeDocument/2006/relationships/image"/><Relationship Id="rId16" Target="../media/image43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5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68.png" Type="http://schemas.openxmlformats.org/officeDocument/2006/relationships/image"/><Relationship Id="rId14" Target="../media/image69.svg" Type="http://schemas.openxmlformats.org/officeDocument/2006/relationships/image"/><Relationship Id="rId15" Target="../media/image70.png" Type="http://schemas.openxmlformats.org/officeDocument/2006/relationships/image"/><Relationship Id="rId16" Target="../media/image71.svg" Type="http://schemas.openxmlformats.org/officeDocument/2006/relationships/image"/><Relationship Id="rId17" Target="../media/image72.png" Type="http://schemas.openxmlformats.org/officeDocument/2006/relationships/image"/><Relationship Id="rId18" Target="../media/image73.svg" Type="http://schemas.openxmlformats.org/officeDocument/2006/relationships/image"/><Relationship Id="rId19" Target="../media/image74.png" Type="http://schemas.openxmlformats.org/officeDocument/2006/relationships/image"/><Relationship Id="rId2" Target="../media/image15.png" Type="http://schemas.openxmlformats.org/officeDocument/2006/relationships/image"/><Relationship Id="rId20" Target="../media/image75.svg" Type="http://schemas.openxmlformats.org/officeDocument/2006/relationships/image"/><Relationship Id="rId21" Target="../media/image76.png" Type="http://schemas.openxmlformats.org/officeDocument/2006/relationships/image"/><Relationship Id="rId22" Target="../media/image77.sv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88.png" Type="http://schemas.openxmlformats.org/officeDocument/2006/relationships/image"/><Relationship Id="rId16" Target="../media/image89.svg" Type="http://schemas.openxmlformats.org/officeDocument/2006/relationships/image"/><Relationship Id="rId17" Target="../media/image90.png" Type="http://schemas.openxmlformats.org/officeDocument/2006/relationships/image"/><Relationship Id="rId18" Target="../media/image91.svg" Type="http://schemas.openxmlformats.org/officeDocument/2006/relationships/image"/><Relationship Id="rId19" Target="../media/image68.png" Type="http://schemas.openxmlformats.org/officeDocument/2006/relationships/image"/><Relationship Id="rId2" Target="../media/image78.png" Type="http://schemas.openxmlformats.org/officeDocument/2006/relationships/image"/><Relationship Id="rId20" Target="../media/image69.svg" Type="http://schemas.openxmlformats.org/officeDocument/2006/relationships/image"/><Relationship Id="rId3" Target="../media/image79.svg" Type="http://schemas.openxmlformats.org/officeDocument/2006/relationships/image"/><Relationship Id="rId4" Target="../media/image15.pn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svg" Type="http://schemas.openxmlformats.org/officeDocument/2006/relationships/image"/><Relationship Id="rId11" Target="../media/image100.png" Type="http://schemas.openxmlformats.org/officeDocument/2006/relationships/image"/><Relationship Id="rId12" Target="../media/image101.svg" Type="http://schemas.openxmlformats.org/officeDocument/2006/relationships/image"/><Relationship Id="rId13" Target="../media/image102.png" Type="http://schemas.openxmlformats.org/officeDocument/2006/relationships/image"/><Relationship Id="rId14" Target="../media/image103.svg" Type="http://schemas.openxmlformats.org/officeDocument/2006/relationships/image"/><Relationship Id="rId2" Target="../media/image92.png" Type="http://schemas.openxmlformats.org/officeDocument/2006/relationships/image"/><Relationship Id="rId3" Target="../media/image93.svg" Type="http://schemas.openxmlformats.org/officeDocument/2006/relationships/image"/><Relationship Id="rId4" Target="../media/image15.pn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svg" Type="http://schemas.openxmlformats.org/officeDocument/2006/relationships/image"/><Relationship Id="rId12" Target="../media/image114.png" Type="http://schemas.openxmlformats.org/officeDocument/2006/relationships/image"/><Relationship Id="rId13" Target="../media/image115.svg" Type="http://schemas.openxmlformats.org/officeDocument/2006/relationships/image"/><Relationship Id="rId14" Target="../media/image116.png" Type="http://schemas.openxmlformats.org/officeDocument/2006/relationships/image"/><Relationship Id="rId15" Target="../media/image117.svg" Type="http://schemas.openxmlformats.org/officeDocument/2006/relationships/image"/><Relationship Id="rId16" Target="../media/image118.png" Type="http://schemas.openxmlformats.org/officeDocument/2006/relationships/image"/><Relationship Id="rId17" Target="../media/image119.svg" Type="http://schemas.openxmlformats.org/officeDocument/2006/relationships/image"/><Relationship Id="rId18" Target="../media/image120.png" Type="http://schemas.openxmlformats.org/officeDocument/2006/relationships/image"/><Relationship Id="rId19" Target="../media/image121.svg" Type="http://schemas.openxmlformats.org/officeDocument/2006/relationships/image"/><Relationship Id="rId2" Target="../media/image104.png" Type="http://schemas.openxmlformats.org/officeDocument/2006/relationships/image"/><Relationship Id="rId20" Target="../media/image122.png" Type="http://schemas.openxmlformats.org/officeDocument/2006/relationships/image"/><Relationship Id="rId21" Target="../media/image123.svg" Type="http://schemas.openxmlformats.org/officeDocument/2006/relationships/image"/><Relationship Id="rId3" Target="../media/image105.svg" Type="http://schemas.openxmlformats.org/officeDocument/2006/relationships/image"/><Relationship Id="rId4" Target="../media/image106.png" Type="http://schemas.openxmlformats.org/officeDocument/2006/relationships/image"/><Relationship Id="rId5" Target="../media/image107.svg" Type="http://schemas.openxmlformats.org/officeDocument/2006/relationships/image"/><Relationship Id="rId6" Target="../media/image108.png" Type="http://schemas.openxmlformats.org/officeDocument/2006/relationships/image"/><Relationship Id="rId7" Target="../media/image109.svg" Type="http://schemas.openxmlformats.org/officeDocument/2006/relationships/image"/><Relationship Id="rId8" Target="../media/image110.png" Type="http://schemas.openxmlformats.org/officeDocument/2006/relationships/image"/><Relationship Id="rId9" Target="../media/image1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svg" Type="http://schemas.openxmlformats.org/officeDocument/2006/relationships/image"/><Relationship Id="rId11" Target="../media/image132.png" Type="http://schemas.openxmlformats.org/officeDocument/2006/relationships/image"/><Relationship Id="rId12" Target="../media/image133.svg" Type="http://schemas.openxmlformats.org/officeDocument/2006/relationships/image"/><Relationship Id="rId13" Target="../media/image134.png" Type="http://schemas.openxmlformats.org/officeDocument/2006/relationships/image"/><Relationship Id="rId14" Target="../media/image135.svg" Type="http://schemas.openxmlformats.org/officeDocument/2006/relationships/image"/><Relationship Id="rId15" Target="../media/image102.png" Type="http://schemas.openxmlformats.org/officeDocument/2006/relationships/image"/><Relationship Id="rId16" Target="../media/image103.svg" Type="http://schemas.openxmlformats.org/officeDocument/2006/relationships/image"/><Relationship Id="rId2" Target="../media/image124.png" Type="http://schemas.openxmlformats.org/officeDocument/2006/relationships/image"/><Relationship Id="rId3" Target="../media/image125.svg" Type="http://schemas.openxmlformats.org/officeDocument/2006/relationships/image"/><Relationship Id="rId4" Target="../media/image126.png" Type="http://schemas.openxmlformats.org/officeDocument/2006/relationships/image"/><Relationship Id="rId5" Target="../media/image127.svg" Type="http://schemas.openxmlformats.org/officeDocument/2006/relationships/image"/><Relationship Id="rId6" Target="../media/image15.png" Type="http://schemas.openxmlformats.org/officeDocument/2006/relationships/image"/><Relationship Id="rId7" Target="../media/image128.png" Type="http://schemas.openxmlformats.org/officeDocument/2006/relationships/image"/><Relationship Id="rId8" Target="../media/image129.sv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3.svg" Type="http://schemas.openxmlformats.org/officeDocument/2006/relationships/image"/><Relationship Id="rId11" Target="../media/image144.png" Type="http://schemas.openxmlformats.org/officeDocument/2006/relationships/image"/><Relationship Id="rId12" Target="../media/image145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media/image136.png" Type="http://schemas.openxmlformats.org/officeDocument/2006/relationships/image"/><Relationship Id="rId3" Target="../media/image137.svg" Type="http://schemas.openxmlformats.org/officeDocument/2006/relationships/image"/><Relationship Id="rId4" Target="../media/image15.png" Type="http://schemas.openxmlformats.org/officeDocument/2006/relationships/image"/><Relationship Id="rId5" Target="../media/image138.png" Type="http://schemas.openxmlformats.org/officeDocument/2006/relationships/image"/><Relationship Id="rId6" Target="../media/image139.svg" Type="http://schemas.openxmlformats.org/officeDocument/2006/relationships/image"/><Relationship Id="rId7" Target="../media/image140.png" Type="http://schemas.openxmlformats.org/officeDocument/2006/relationships/image"/><Relationship Id="rId8" Target="../media/image141.svg" Type="http://schemas.openxmlformats.org/officeDocument/2006/relationships/image"/><Relationship Id="rId9" Target="../media/image1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6395318" y="4013786"/>
            <a:ext cx="20540" cy="654507"/>
          </a:xfrm>
          <a:prstGeom prst="line">
            <a:avLst/>
          </a:prstGeom>
          <a:ln cap="flat" w="38100">
            <a:solidFill>
              <a:srgbClr val="3D5B84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37910" y="4445548"/>
            <a:ext cx="14464555" cy="2856750"/>
          </a:xfrm>
          <a:custGeom>
            <a:avLst/>
            <a:gdLst/>
            <a:ahLst/>
            <a:cxnLst/>
            <a:rect r="r" b="b" t="t" l="l"/>
            <a:pathLst>
              <a:path h="2856750" w="14464555">
                <a:moveTo>
                  <a:pt x="0" y="0"/>
                </a:moveTo>
                <a:lnTo>
                  <a:pt x="14464555" y="0"/>
                </a:lnTo>
                <a:lnTo>
                  <a:pt x="14464555" y="2856750"/>
                </a:lnTo>
                <a:lnTo>
                  <a:pt x="0" y="285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89367" y="7695516"/>
            <a:ext cx="3061394" cy="1401740"/>
            <a:chOff x="0" y="0"/>
            <a:chExt cx="806293" cy="3691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6293" cy="369182"/>
            </a:xfrm>
            <a:custGeom>
              <a:avLst/>
              <a:gdLst/>
              <a:ahLst/>
              <a:cxnLst/>
              <a:rect r="r" b="b" t="t" l="l"/>
              <a:pathLst>
                <a:path h="369182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1249"/>
                  </a:lnTo>
                  <a:cubicBezTo>
                    <a:pt x="806293" y="352199"/>
                    <a:pt x="789310" y="369182"/>
                    <a:pt x="768360" y="369182"/>
                  </a:cubicBezTo>
                  <a:lnTo>
                    <a:pt x="37933" y="369182"/>
                  </a:lnTo>
                  <a:cubicBezTo>
                    <a:pt x="16983" y="369182"/>
                    <a:pt x="0" y="352199"/>
                    <a:pt x="0" y="33124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06293" cy="407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70547" y="7695516"/>
            <a:ext cx="3061394" cy="1401740"/>
            <a:chOff x="0" y="0"/>
            <a:chExt cx="806293" cy="3691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6293" cy="369182"/>
            </a:xfrm>
            <a:custGeom>
              <a:avLst/>
              <a:gdLst/>
              <a:ahLst/>
              <a:cxnLst/>
              <a:rect r="r" b="b" t="t" l="l"/>
              <a:pathLst>
                <a:path h="369182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1249"/>
                  </a:lnTo>
                  <a:cubicBezTo>
                    <a:pt x="806293" y="352199"/>
                    <a:pt x="789310" y="369182"/>
                    <a:pt x="768360" y="369182"/>
                  </a:cubicBezTo>
                  <a:lnTo>
                    <a:pt x="37933" y="369182"/>
                  </a:lnTo>
                  <a:cubicBezTo>
                    <a:pt x="16983" y="369182"/>
                    <a:pt x="0" y="352199"/>
                    <a:pt x="0" y="33124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06293" cy="407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51728" y="7695516"/>
            <a:ext cx="3061394" cy="1401740"/>
            <a:chOff x="0" y="0"/>
            <a:chExt cx="806293" cy="3691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6293" cy="369182"/>
            </a:xfrm>
            <a:custGeom>
              <a:avLst/>
              <a:gdLst/>
              <a:ahLst/>
              <a:cxnLst/>
              <a:rect r="r" b="b" t="t" l="l"/>
              <a:pathLst>
                <a:path h="369182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1249"/>
                  </a:lnTo>
                  <a:cubicBezTo>
                    <a:pt x="806293" y="352199"/>
                    <a:pt x="789310" y="369182"/>
                    <a:pt x="768360" y="369182"/>
                  </a:cubicBezTo>
                  <a:lnTo>
                    <a:pt x="37933" y="369182"/>
                  </a:lnTo>
                  <a:cubicBezTo>
                    <a:pt x="16983" y="369182"/>
                    <a:pt x="0" y="352199"/>
                    <a:pt x="0" y="33124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06293" cy="407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74891" y="2742969"/>
            <a:ext cx="3061394" cy="1401740"/>
            <a:chOff x="0" y="0"/>
            <a:chExt cx="806293" cy="3691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6293" cy="369182"/>
            </a:xfrm>
            <a:custGeom>
              <a:avLst/>
              <a:gdLst/>
              <a:ahLst/>
              <a:cxnLst/>
              <a:rect r="r" b="b" t="t" l="l"/>
              <a:pathLst>
                <a:path h="369182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1249"/>
                  </a:lnTo>
                  <a:cubicBezTo>
                    <a:pt x="806293" y="352199"/>
                    <a:pt x="789310" y="369182"/>
                    <a:pt x="768360" y="369182"/>
                  </a:cubicBezTo>
                  <a:lnTo>
                    <a:pt x="37933" y="369182"/>
                  </a:lnTo>
                  <a:cubicBezTo>
                    <a:pt x="16983" y="369182"/>
                    <a:pt x="0" y="352199"/>
                    <a:pt x="0" y="33124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06293" cy="407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15669" y="2742969"/>
            <a:ext cx="3061394" cy="1401740"/>
            <a:chOff x="0" y="0"/>
            <a:chExt cx="806293" cy="3691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6293" cy="369182"/>
            </a:xfrm>
            <a:custGeom>
              <a:avLst/>
              <a:gdLst/>
              <a:ahLst/>
              <a:cxnLst/>
              <a:rect r="r" b="b" t="t" l="l"/>
              <a:pathLst>
                <a:path h="369182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1249"/>
                  </a:lnTo>
                  <a:cubicBezTo>
                    <a:pt x="806293" y="352199"/>
                    <a:pt x="789310" y="369182"/>
                    <a:pt x="768360" y="369182"/>
                  </a:cubicBezTo>
                  <a:lnTo>
                    <a:pt x="37933" y="369182"/>
                  </a:lnTo>
                  <a:cubicBezTo>
                    <a:pt x="16983" y="369182"/>
                    <a:pt x="0" y="352199"/>
                    <a:pt x="0" y="33124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06293" cy="407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3750354" y="4171719"/>
            <a:ext cx="0" cy="654829"/>
          </a:xfrm>
          <a:prstGeom prst="line">
            <a:avLst/>
          </a:prstGeom>
          <a:ln cap="flat" w="38100">
            <a:solidFill>
              <a:srgbClr val="6CFACD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9070187" y="4171719"/>
            <a:ext cx="0" cy="654829"/>
          </a:xfrm>
          <a:prstGeom prst="line">
            <a:avLst/>
          </a:prstGeom>
          <a:ln cap="flat" w="38100">
            <a:solidFill>
              <a:srgbClr val="00C6DD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1746367" y="7040687"/>
            <a:ext cx="0" cy="654829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3035979" y="2742969"/>
            <a:ext cx="1428750" cy="14287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55812" y="2742969"/>
            <a:ext cx="1428750" cy="142875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1031992" y="7695516"/>
            <a:ext cx="1428750" cy="142875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14390020" y="4171719"/>
            <a:ext cx="0" cy="654829"/>
          </a:xfrm>
          <a:prstGeom prst="line">
            <a:avLst/>
          </a:prstGeom>
          <a:ln cap="flat" w="38100">
            <a:solidFill>
              <a:srgbClr val="6D96CE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6405588" y="7040687"/>
            <a:ext cx="0" cy="654829"/>
          </a:xfrm>
          <a:prstGeom prst="line">
            <a:avLst/>
          </a:prstGeom>
          <a:ln cap="flat" w="38100">
            <a:solidFill>
              <a:srgbClr val="3D5B84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3675645" y="2742969"/>
            <a:ext cx="1428750" cy="142875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D96CE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10800000">
            <a:off x="5691213" y="7695516"/>
            <a:ext cx="1428750" cy="142875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A9F7DE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396062" y="3147782"/>
            <a:ext cx="708584" cy="619125"/>
          </a:xfrm>
          <a:custGeom>
            <a:avLst/>
            <a:gdLst/>
            <a:ahLst/>
            <a:cxnLst/>
            <a:rect r="r" b="b" t="t" l="l"/>
            <a:pathLst>
              <a:path h="619125" w="708584">
                <a:moveTo>
                  <a:pt x="0" y="0"/>
                </a:moveTo>
                <a:lnTo>
                  <a:pt x="708584" y="0"/>
                </a:lnTo>
                <a:lnTo>
                  <a:pt x="708584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079733" y="8100329"/>
            <a:ext cx="651711" cy="619125"/>
          </a:xfrm>
          <a:custGeom>
            <a:avLst/>
            <a:gdLst/>
            <a:ahLst/>
            <a:cxnLst/>
            <a:rect r="r" b="b" t="t" l="l"/>
            <a:pathLst>
              <a:path h="619125" w="651711">
                <a:moveTo>
                  <a:pt x="0" y="0"/>
                </a:moveTo>
                <a:lnTo>
                  <a:pt x="651710" y="0"/>
                </a:lnTo>
                <a:lnTo>
                  <a:pt x="65171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732789" y="3147782"/>
            <a:ext cx="674796" cy="619125"/>
          </a:xfrm>
          <a:custGeom>
            <a:avLst/>
            <a:gdLst/>
            <a:ahLst/>
            <a:cxnLst/>
            <a:rect r="r" b="b" t="t" l="l"/>
            <a:pathLst>
              <a:path h="619125" w="674796">
                <a:moveTo>
                  <a:pt x="0" y="0"/>
                </a:moveTo>
                <a:lnTo>
                  <a:pt x="674796" y="0"/>
                </a:lnTo>
                <a:lnTo>
                  <a:pt x="674796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393589" y="8100329"/>
            <a:ext cx="705556" cy="619125"/>
          </a:xfrm>
          <a:custGeom>
            <a:avLst/>
            <a:gdLst/>
            <a:ahLst/>
            <a:cxnLst/>
            <a:rect r="r" b="b" t="t" l="l"/>
            <a:pathLst>
              <a:path h="619125" w="705556">
                <a:moveTo>
                  <a:pt x="0" y="0"/>
                </a:moveTo>
                <a:lnTo>
                  <a:pt x="705555" y="0"/>
                </a:lnTo>
                <a:lnTo>
                  <a:pt x="70555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091680" y="3147782"/>
            <a:ext cx="596682" cy="619125"/>
          </a:xfrm>
          <a:custGeom>
            <a:avLst/>
            <a:gdLst/>
            <a:ahLst/>
            <a:cxnLst/>
            <a:rect r="r" b="b" t="t" l="l"/>
            <a:pathLst>
              <a:path h="619125" w="596682">
                <a:moveTo>
                  <a:pt x="0" y="0"/>
                </a:moveTo>
                <a:lnTo>
                  <a:pt x="596681" y="0"/>
                </a:lnTo>
                <a:lnTo>
                  <a:pt x="596681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true" rot="-4092191">
            <a:off x="-4935300" y="1299375"/>
            <a:ext cx="9982151" cy="2208551"/>
          </a:xfrm>
          <a:custGeom>
            <a:avLst/>
            <a:gdLst/>
            <a:ahLst/>
            <a:cxnLst/>
            <a:rect r="r" b="b" t="t" l="l"/>
            <a:pathLst>
              <a:path h="2208551" w="9982151">
                <a:moveTo>
                  <a:pt x="9982151" y="2208551"/>
                </a:moveTo>
                <a:lnTo>
                  <a:pt x="0" y="2208551"/>
                </a:lnTo>
                <a:lnTo>
                  <a:pt x="0" y="0"/>
                </a:lnTo>
                <a:lnTo>
                  <a:pt x="9982151" y="0"/>
                </a:lnTo>
                <a:lnTo>
                  <a:pt x="9982151" y="2208551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true" flipV="true" rot="-4092191">
            <a:off x="12838139" y="7677471"/>
            <a:ext cx="9982151" cy="2208551"/>
          </a:xfrm>
          <a:custGeom>
            <a:avLst/>
            <a:gdLst/>
            <a:ahLst/>
            <a:cxnLst/>
            <a:rect r="r" b="b" t="t" l="l"/>
            <a:pathLst>
              <a:path h="2208551" w="9982151">
                <a:moveTo>
                  <a:pt x="9982151" y="2208550"/>
                </a:moveTo>
                <a:lnTo>
                  <a:pt x="0" y="2208550"/>
                </a:lnTo>
                <a:lnTo>
                  <a:pt x="0" y="0"/>
                </a:lnTo>
                <a:lnTo>
                  <a:pt x="9982151" y="0"/>
                </a:lnTo>
                <a:lnTo>
                  <a:pt x="9982151" y="220855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449216" y="784972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W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ebsite Visit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49216" y="8258409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explo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re information, pricing, and product details online.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69049" y="784972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Cu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stomer Support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69049" y="8258409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contact se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rvice teams for questions or problem resolution.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88882" y="784972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Po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 Purchase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88882" y="8258409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recei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ve follow up communication and support after buying.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104450" y="2885819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Soc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ial Media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04450" y="3318300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interact with content, messages, and community discussions.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45228" y="2885819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Checkout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Process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45228" y="3308775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complete payment and receive confirmation of their purchase.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662799" y="1106574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KEY TOUCHPOINTS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966565" y="1660929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Lis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 important moments that shape customer perception and satisfaction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121865" y="5832832"/>
            <a:ext cx="12569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7DCFB5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441698" y="5832832"/>
            <a:ext cx="12569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C6DD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761531" y="5832832"/>
            <a:ext cx="12569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970A6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862984" y="5323458"/>
            <a:ext cx="12569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6C89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117877" y="5250582"/>
            <a:ext cx="12569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2229" y="5796940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35509" y="8177754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988" y="-767995"/>
            <a:ext cx="11975073" cy="10216795"/>
            <a:chOff x="0" y="0"/>
            <a:chExt cx="15966764" cy="136223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3519" y="5500475"/>
              <a:ext cx="8733245" cy="8121918"/>
            </a:xfrm>
            <a:custGeom>
              <a:avLst/>
              <a:gdLst/>
              <a:ahLst/>
              <a:cxnLst/>
              <a:rect r="r" b="b" t="t" l="l"/>
              <a:pathLst>
                <a:path h="8121918" w="8733245">
                  <a:moveTo>
                    <a:pt x="0" y="0"/>
                  </a:moveTo>
                  <a:lnTo>
                    <a:pt x="8733245" y="0"/>
                  </a:lnTo>
                  <a:lnTo>
                    <a:pt x="8733245" y="8121918"/>
                  </a:lnTo>
                  <a:lnTo>
                    <a:pt x="0" y="8121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6752021"/>
              <a:ext cx="8544075" cy="1544151"/>
              <a:chOff x="0" y="0"/>
              <a:chExt cx="1548298" cy="27982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48298" cy="279820"/>
              </a:xfrm>
              <a:custGeom>
                <a:avLst/>
                <a:gdLst/>
                <a:ahLst/>
                <a:cxnLst/>
                <a:rect r="r" b="b" t="t" l="l"/>
                <a:pathLst>
                  <a:path h="279820" w="1548298">
                    <a:moveTo>
                      <a:pt x="0" y="0"/>
                    </a:moveTo>
                    <a:lnTo>
                      <a:pt x="1548298" y="0"/>
                    </a:lnTo>
                    <a:lnTo>
                      <a:pt x="1548298" y="279820"/>
                    </a:lnTo>
                    <a:lnTo>
                      <a:pt x="0" y="279820"/>
                    </a:lnTo>
                    <a:close/>
                  </a:path>
                </a:pathLst>
              </a:custGeom>
              <a:solidFill>
                <a:srgbClr val="6CFAC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548298" cy="317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6567729" y="2523572"/>
              <a:ext cx="6594880" cy="1547737"/>
              <a:chOff x="0" y="0"/>
              <a:chExt cx="1195078" cy="2804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95078" cy="280470"/>
              </a:xfrm>
              <a:custGeom>
                <a:avLst/>
                <a:gdLst/>
                <a:ahLst/>
                <a:cxnLst/>
                <a:rect r="r" b="b" t="t" l="l"/>
                <a:pathLst>
                  <a:path h="280470" w="1195078">
                    <a:moveTo>
                      <a:pt x="0" y="0"/>
                    </a:moveTo>
                    <a:lnTo>
                      <a:pt x="1195078" y="0"/>
                    </a:lnTo>
                    <a:lnTo>
                      <a:pt x="1195078" y="280470"/>
                    </a:lnTo>
                    <a:lnTo>
                      <a:pt x="0" y="280470"/>
                    </a:lnTo>
                    <a:close/>
                  </a:path>
                </a:pathLst>
              </a:custGeom>
              <a:solidFill>
                <a:srgbClr val="EEF7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195078" cy="318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2127953" y="8253512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07401" y="2087991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15444" y="3439370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5400000">
            <a:off x="5445845" y="1857275"/>
            <a:ext cx="301407" cy="263731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CFA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79172" y="1037788"/>
            <a:ext cx="3061394" cy="1677941"/>
            <a:chOff x="0" y="0"/>
            <a:chExt cx="806293" cy="4419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6293" cy="441927"/>
            </a:xfrm>
            <a:custGeom>
              <a:avLst/>
              <a:gdLst/>
              <a:ahLst/>
              <a:cxnLst/>
              <a:rect r="r" b="b" t="t" l="l"/>
              <a:pathLst>
                <a:path h="441927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3994"/>
                  </a:lnTo>
                  <a:cubicBezTo>
                    <a:pt x="806293" y="424943"/>
                    <a:pt x="789310" y="441927"/>
                    <a:pt x="768360" y="441927"/>
                  </a:cubicBezTo>
                  <a:lnTo>
                    <a:pt x="37933" y="441927"/>
                  </a:lnTo>
                  <a:cubicBezTo>
                    <a:pt x="16983" y="441927"/>
                    <a:pt x="0" y="424943"/>
                    <a:pt x="0" y="403994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06293" cy="48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99725" y="7178918"/>
            <a:ext cx="3061394" cy="1669807"/>
            <a:chOff x="0" y="0"/>
            <a:chExt cx="806293" cy="4397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3609870" y="3038380"/>
            <a:ext cx="0" cy="1273447"/>
          </a:xfrm>
          <a:prstGeom prst="line">
            <a:avLst/>
          </a:prstGeom>
          <a:ln cap="flat" w="38100">
            <a:solidFill>
              <a:srgbClr val="5CD7A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25" id="25"/>
          <p:cNvSpPr/>
          <p:nvPr/>
        </p:nvSpPr>
        <p:spPr>
          <a:xfrm>
            <a:off x="5728414" y="7602621"/>
            <a:ext cx="575051" cy="417310"/>
          </a:xfrm>
          <a:custGeom>
            <a:avLst/>
            <a:gdLst/>
            <a:ahLst/>
            <a:cxnLst/>
            <a:rect r="r" b="b" t="t" l="l"/>
            <a:pathLst>
              <a:path h="417310" w="575051">
                <a:moveTo>
                  <a:pt x="575051" y="0"/>
                </a:moveTo>
                <a:lnTo>
                  <a:pt x="431289" y="0"/>
                </a:lnTo>
                <a:cubicBezTo>
                  <a:pt x="393160" y="0"/>
                  <a:pt x="356594" y="15147"/>
                  <a:pt x="329633" y="42108"/>
                </a:cubicBezTo>
                <a:cubicBezTo>
                  <a:pt x="302672" y="69068"/>
                  <a:pt x="287526" y="105635"/>
                  <a:pt x="287526" y="143763"/>
                </a:cubicBezTo>
                <a:lnTo>
                  <a:pt x="287526" y="273548"/>
                </a:lnTo>
                <a:cubicBezTo>
                  <a:pt x="287526" y="311676"/>
                  <a:pt x="272379" y="348243"/>
                  <a:pt x="245419" y="375203"/>
                </a:cubicBezTo>
                <a:cubicBezTo>
                  <a:pt x="218458" y="402164"/>
                  <a:pt x="181891" y="417310"/>
                  <a:pt x="143763" y="417310"/>
                </a:cubicBezTo>
                <a:lnTo>
                  <a:pt x="0" y="417310"/>
                </a:lnTo>
              </a:path>
            </a:pathLst>
          </a:custGeom>
          <a:ln cap="flat" w="38100">
            <a:solidFill>
              <a:srgbClr val="6D96CE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-10800000">
            <a:off x="13593433" y="3208238"/>
            <a:ext cx="301407" cy="263731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F7DE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26760" y="2655904"/>
            <a:ext cx="3061394" cy="1368400"/>
            <a:chOff x="0" y="0"/>
            <a:chExt cx="806293" cy="3604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6293" cy="360402"/>
            </a:xfrm>
            <a:custGeom>
              <a:avLst/>
              <a:gdLst/>
              <a:ahLst/>
              <a:cxnLst/>
              <a:rect r="r" b="b" t="t" l="l"/>
              <a:pathLst>
                <a:path h="360402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22468"/>
                  </a:lnTo>
                  <a:cubicBezTo>
                    <a:pt x="806293" y="343418"/>
                    <a:pt x="789310" y="360402"/>
                    <a:pt x="768360" y="360402"/>
                  </a:cubicBezTo>
                  <a:lnTo>
                    <a:pt x="37933" y="360402"/>
                  </a:lnTo>
                  <a:cubicBezTo>
                    <a:pt x="16983" y="360402"/>
                    <a:pt x="0" y="343418"/>
                    <a:pt x="0" y="322468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06293" cy="40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>
            <a:off x="9369510" y="3340104"/>
            <a:ext cx="672883" cy="647550"/>
          </a:xfrm>
          <a:custGeom>
            <a:avLst/>
            <a:gdLst/>
            <a:ahLst/>
            <a:cxnLst/>
            <a:rect r="r" b="b" t="t" l="l"/>
            <a:pathLst>
              <a:path h="647550" w="672883">
                <a:moveTo>
                  <a:pt x="0" y="647550"/>
                </a:moveTo>
                <a:lnTo>
                  <a:pt x="168221" y="647550"/>
                </a:lnTo>
                <a:cubicBezTo>
                  <a:pt x="212836" y="647550"/>
                  <a:pt x="255623" y="629827"/>
                  <a:pt x="287171" y="598279"/>
                </a:cubicBezTo>
                <a:cubicBezTo>
                  <a:pt x="318719" y="566732"/>
                  <a:pt x="336442" y="523944"/>
                  <a:pt x="336442" y="479329"/>
                </a:cubicBezTo>
                <a:lnTo>
                  <a:pt x="336442" y="168221"/>
                </a:lnTo>
                <a:cubicBezTo>
                  <a:pt x="336442" y="75315"/>
                  <a:pt x="411757" y="0"/>
                  <a:pt x="504662" y="0"/>
                </a:cubicBezTo>
                <a:lnTo>
                  <a:pt x="672883" y="0"/>
                </a:lnTo>
              </a:path>
            </a:pathLst>
          </a:custGeom>
          <a:ln cap="flat" w="38100">
            <a:solidFill>
              <a:srgbClr val="8FD0BB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-10800000">
            <a:off x="16425268" y="5623504"/>
            <a:ext cx="301407" cy="263731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6DD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058596" y="5143500"/>
            <a:ext cx="3061394" cy="1223738"/>
            <a:chOff x="0" y="0"/>
            <a:chExt cx="806293" cy="3223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6293" cy="322301"/>
            </a:xfrm>
            <a:custGeom>
              <a:avLst/>
              <a:gdLst/>
              <a:ahLst/>
              <a:cxnLst/>
              <a:rect r="r" b="b" t="t" l="l"/>
              <a:pathLst>
                <a:path h="322301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284368"/>
                  </a:lnTo>
                  <a:cubicBezTo>
                    <a:pt x="806293" y="305318"/>
                    <a:pt x="789310" y="322301"/>
                    <a:pt x="768360" y="322301"/>
                  </a:cubicBezTo>
                  <a:lnTo>
                    <a:pt x="37933" y="322301"/>
                  </a:lnTo>
                  <a:cubicBezTo>
                    <a:pt x="16983" y="322301"/>
                    <a:pt x="0" y="305318"/>
                    <a:pt x="0" y="284368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06293" cy="369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>
            <a:off x="11941260" y="5755369"/>
            <a:ext cx="895579" cy="1217163"/>
          </a:xfrm>
          <a:custGeom>
            <a:avLst/>
            <a:gdLst/>
            <a:ahLst/>
            <a:cxnLst/>
            <a:rect r="r" b="b" t="t" l="l"/>
            <a:pathLst>
              <a:path h="1217163" w="895579">
                <a:moveTo>
                  <a:pt x="0" y="1217164"/>
                </a:moveTo>
                <a:lnTo>
                  <a:pt x="114300" y="1217164"/>
                </a:lnTo>
                <a:cubicBezTo>
                  <a:pt x="177427" y="1217164"/>
                  <a:pt x="228600" y="1165990"/>
                  <a:pt x="228600" y="1102864"/>
                </a:cubicBezTo>
                <a:lnTo>
                  <a:pt x="228600" y="779065"/>
                </a:lnTo>
                <a:cubicBezTo>
                  <a:pt x="228600" y="696459"/>
                  <a:pt x="295566" y="629493"/>
                  <a:pt x="378173" y="629493"/>
                </a:cubicBezTo>
                <a:lnTo>
                  <a:pt x="378173" y="629493"/>
                </a:lnTo>
                <a:cubicBezTo>
                  <a:pt x="460780" y="629493"/>
                  <a:pt x="527746" y="562527"/>
                  <a:pt x="527746" y="479920"/>
                </a:cubicBezTo>
                <a:lnTo>
                  <a:pt x="527746" y="183917"/>
                </a:lnTo>
                <a:cubicBezTo>
                  <a:pt x="527746" y="82343"/>
                  <a:pt x="610088" y="0"/>
                  <a:pt x="711663" y="0"/>
                </a:cubicBezTo>
                <a:lnTo>
                  <a:pt x="895580" y="0"/>
                </a:lnTo>
              </a:path>
            </a:pathLst>
          </a:custGeom>
          <a:ln cap="flat" w="38100">
            <a:solidFill>
              <a:srgbClr val="00C6DD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-5400000">
            <a:off x="15973953" y="8038769"/>
            <a:ext cx="301407" cy="263731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AAD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07281" y="7520494"/>
            <a:ext cx="3061394" cy="1300281"/>
            <a:chOff x="0" y="0"/>
            <a:chExt cx="806293" cy="3424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6293" cy="342461"/>
            </a:xfrm>
            <a:custGeom>
              <a:avLst/>
              <a:gdLst/>
              <a:ahLst/>
              <a:cxnLst/>
              <a:rect r="r" b="b" t="t" l="l"/>
              <a:pathLst>
                <a:path h="342461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04527"/>
                  </a:lnTo>
                  <a:cubicBezTo>
                    <a:pt x="806293" y="325477"/>
                    <a:pt x="789310" y="342461"/>
                    <a:pt x="768360" y="342461"/>
                  </a:cubicBezTo>
                  <a:lnTo>
                    <a:pt x="37933" y="342461"/>
                  </a:lnTo>
                  <a:cubicBezTo>
                    <a:pt x="16983" y="342461"/>
                    <a:pt x="0" y="325477"/>
                    <a:pt x="0" y="304527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06293" cy="390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>
            <a:off x="10226760" y="8170635"/>
            <a:ext cx="2138538" cy="650140"/>
          </a:xfrm>
          <a:custGeom>
            <a:avLst/>
            <a:gdLst/>
            <a:ahLst/>
            <a:cxnLst/>
            <a:rect r="r" b="b" t="t" l="l"/>
            <a:pathLst>
              <a:path h="650140" w="2138538">
                <a:moveTo>
                  <a:pt x="0" y="650140"/>
                </a:moveTo>
                <a:lnTo>
                  <a:pt x="1075919" y="650140"/>
                </a:lnTo>
                <a:cubicBezTo>
                  <a:pt x="1136548" y="650140"/>
                  <a:pt x="1194693" y="626055"/>
                  <a:pt x="1237563" y="583184"/>
                </a:cubicBezTo>
                <a:cubicBezTo>
                  <a:pt x="1280435" y="540314"/>
                  <a:pt x="1304519" y="482169"/>
                  <a:pt x="1304519" y="421540"/>
                </a:cubicBezTo>
                <a:lnTo>
                  <a:pt x="1304519" y="228600"/>
                </a:lnTo>
                <a:cubicBezTo>
                  <a:pt x="1304519" y="167971"/>
                  <a:pt x="1328604" y="109825"/>
                  <a:pt x="1371475" y="66955"/>
                </a:cubicBezTo>
                <a:cubicBezTo>
                  <a:pt x="1414345" y="24084"/>
                  <a:pt x="1472490" y="0"/>
                  <a:pt x="1533119" y="0"/>
                </a:cubicBezTo>
                <a:lnTo>
                  <a:pt x="2138539" y="0"/>
                </a:lnTo>
              </a:path>
            </a:pathLst>
          </a:custGeom>
          <a:ln cap="flat" w="38100">
            <a:solidFill>
              <a:srgbClr val="004AAD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47" id="47"/>
          <p:cNvGrpSpPr/>
          <p:nvPr/>
        </p:nvGrpSpPr>
        <p:grpSpPr>
          <a:xfrm rot="0">
            <a:off x="2752620" y="3987654"/>
            <a:ext cx="1714500" cy="171450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FAC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512260" y="3987654"/>
            <a:ext cx="1714500" cy="171450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F7D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226760" y="6115282"/>
            <a:ext cx="1714500" cy="1714500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6D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512260" y="7963525"/>
            <a:ext cx="1714500" cy="1714500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03465" y="6745371"/>
            <a:ext cx="1714500" cy="1714500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96C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3327513" y="4416279"/>
            <a:ext cx="564713" cy="857250"/>
          </a:xfrm>
          <a:custGeom>
            <a:avLst/>
            <a:gdLst/>
            <a:ahLst/>
            <a:cxnLst/>
            <a:rect r="r" b="b" t="t" l="l"/>
            <a:pathLst>
              <a:path h="857250" w="564713">
                <a:moveTo>
                  <a:pt x="0" y="0"/>
                </a:moveTo>
                <a:lnTo>
                  <a:pt x="564713" y="0"/>
                </a:lnTo>
                <a:lnTo>
                  <a:pt x="564713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8940885" y="4664346"/>
            <a:ext cx="857250" cy="361117"/>
          </a:xfrm>
          <a:custGeom>
            <a:avLst/>
            <a:gdLst/>
            <a:ahLst/>
            <a:cxnLst/>
            <a:rect r="r" b="b" t="t" l="l"/>
            <a:pathLst>
              <a:path h="361117" w="857250">
                <a:moveTo>
                  <a:pt x="0" y="0"/>
                </a:moveTo>
                <a:lnTo>
                  <a:pt x="857250" y="0"/>
                </a:lnTo>
                <a:lnTo>
                  <a:pt x="857250" y="361116"/>
                </a:lnTo>
                <a:lnTo>
                  <a:pt x="0" y="3611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0655385" y="6661243"/>
            <a:ext cx="857250" cy="622578"/>
          </a:xfrm>
          <a:custGeom>
            <a:avLst/>
            <a:gdLst/>
            <a:ahLst/>
            <a:cxnLst/>
            <a:rect r="r" b="b" t="t" l="l"/>
            <a:pathLst>
              <a:path h="622578" w="857250">
                <a:moveTo>
                  <a:pt x="0" y="0"/>
                </a:moveTo>
                <a:lnTo>
                  <a:pt x="857250" y="0"/>
                </a:lnTo>
                <a:lnTo>
                  <a:pt x="857250" y="622578"/>
                </a:lnTo>
                <a:lnTo>
                  <a:pt x="0" y="622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9044827" y="8392150"/>
            <a:ext cx="649367" cy="857250"/>
          </a:xfrm>
          <a:custGeom>
            <a:avLst/>
            <a:gdLst/>
            <a:ahLst/>
            <a:cxnLst/>
            <a:rect r="r" b="b" t="t" l="l"/>
            <a:pathLst>
              <a:path h="857250" w="649367">
                <a:moveTo>
                  <a:pt x="0" y="0"/>
                </a:moveTo>
                <a:lnTo>
                  <a:pt x="649366" y="0"/>
                </a:lnTo>
                <a:lnTo>
                  <a:pt x="649366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6732090" y="7244719"/>
            <a:ext cx="857250" cy="715804"/>
          </a:xfrm>
          <a:custGeom>
            <a:avLst/>
            <a:gdLst/>
            <a:ahLst/>
            <a:cxnLst/>
            <a:rect r="r" b="b" t="t" l="l"/>
            <a:pathLst>
              <a:path h="715804" w="857250">
                <a:moveTo>
                  <a:pt x="0" y="0"/>
                </a:moveTo>
                <a:lnTo>
                  <a:pt x="857250" y="0"/>
                </a:lnTo>
                <a:lnTo>
                  <a:pt x="857250" y="715804"/>
                </a:lnTo>
                <a:lnTo>
                  <a:pt x="0" y="7158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4691186">
            <a:off x="13780179" y="716856"/>
            <a:ext cx="8840570" cy="1790215"/>
          </a:xfrm>
          <a:custGeom>
            <a:avLst/>
            <a:gdLst/>
            <a:ahLst/>
            <a:cxnLst/>
            <a:rect r="r" b="b" t="t" l="l"/>
            <a:pathLst>
              <a:path h="1790215" w="8840570">
                <a:moveTo>
                  <a:pt x="0" y="0"/>
                </a:moveTo>
                <a:lnTo>
                  <a:pt x="8840570" y="0"/>
                </a:lnTo>
                <a:lnTo>
                  <a:pt x="8840570" y="1790216"/>
                </a:lnTo>
                <a:lnTo>
                  <a:pt x="0" y="17902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true" flipV="true" rot="2700000">
            <a:off x="-5692944" y="7868906"/>
            <a:ext cx="10982096" cy="2223874"/>
          </a:xfrm>
          <a:custGeom>
            <a:avLst/>
            <a:gdLst/>
            <a:ahLst/>
            <a:cxnLst/>
            <a:rect r="r" b="b" t="t" l="l"/>
            <a:pathLst>
              <a:path h="2223874" w="10982096">
                <a:moveTo>
                  <a:pt x="10982096" y="2223874"/>
                </a:moveTo>
                <a:lnTo>
                  <a:pt x="0" y="2223874"/>
                </a:lnTo>
                <a:lnTo>
                  <a:pt x="0" y="0"/>
                </a:lnTo>
                <a:lnTo>
                  <a:pt x="10982096" y="0"/>
                </a:lnTo>
                <a:lnTo>
                  <a:pt x="10982096" y="2223874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8471266" y="1048084"/>
            <a:ext cx="725578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JOURNEY PROCESS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471266" y="1650064"/>
            <a:ext cx="91746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Show the main stages from first contact to loyal customer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229283" y="7461756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Coll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ect Feedback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298398" y="1472677"/>
            <a:ext cx="596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417411" y="2804378"/>
            <a:ext cx="596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256523" y="5225904"/>
            <a:ext cx="596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237473" y="7963942"/>
            <a:ext cx="596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132113" y="7813239"/>
            <a:ext cx="596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D96CE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308731" y="1241623"/>
            <a:ext cx="2602277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Discov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er Touchpoints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308731" y="1887871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Identify all points where c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ustomers interact with the organization.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229283" y="7888282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Ga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ther insights to improve future customer interactions continuously.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456319" y="275898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Eng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 Channels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456319" y="3205999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Deliv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 consistent messaging across digital and physical platforms.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288154" y="5225904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 Action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288154" y="5629830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rovide assistance during evaluation and purchase moments.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836839" y="7726269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Deliver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Experience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836839" y="8148275"/>
            <a:ext cx="26022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Ens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ure smooth service during and after the transaction stage.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0011" y="8136624"/>
            <a:ext cx="2050502" cy="2562902"/>
            <a:chOff x="0" y="0"/>
            <a:chExt cx="761297" cy="951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297" cy="951537"/>
            </a:xfrm>
            <a:custGeom>
              <a:avLst/>
              <a:gdLst/>
              <a:ahLst/>
              <a:cxnLst/>
              <a:rect r="r" b="b" t="t" l="l"/>
              <a:pathLst>
                <a:path h="951537" w="761297">
                  <a:moveTo>
                    <a:pt x="0" y="0"/>
                  </a:moveTo>
                  <a:lnTo>
                    <a:pt x="761297" y="0"/>
                  </a:lnTo>
                  <a:lnTo>
                    <a:pt x="761297" y="951537"/>
                  </a:lnTo>
                  <a:lnTo>
                    <a:pt x="0" y="951537"/>
                  </a:lnTo>
                  <a:close/>
                </a:path>
              </a:pathLst>
            </a:custGeom>
            <a:solidFill>
              <a:srgbClr val="506D9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1297" cy="989637"/>
            </a:xfrm>
            <a:prstGeom prst="rect">
              <a:avLst/>
            </a:prstGeom>
          </p:spPr>
          <p:txBody>
            <a:bodyPr anchor="ctr" rtlCol="false" tIns="36037" lIns="36037" bIns="36037" rIns="3603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53465" y="8136624"/>
            <a:ext cx="2050502" cy="2562902"/>
            <a:chOff x="0" y="0"/>
            <a:chExt cx="761297" cy="9515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1297" cy="951537"/>
            </a:xfrm>
            <a:custGeom>
              <a:avLst/>
              <a:gdLst/>
              <a:ahLst/>
              <a:cxnLst/>
              <a:rect r="r" b="b" t="t" l="l"/>
              <a:pathLst>
                <a:path h="951537" w="761297">
                  <a:moveTo>
                    <a:pt x="0" y="0"/>
                  </a:moveTo>
                  <a:lnTo>
                    <a:pt x="761297" y="0"/>
                  </a:lnTo>
                  <a:lnTo>
                    <a:pt x="761297" y="951537"/>
                  </a:lnTo>
                  <a:lnTo>
                    <a:pt x="0" y="951537"/>
                  </a:lnTo>
                  <a:close/>
                </a:path>
              </a:pathLst>
            </a:custGeom>
            <a:solidFill>
              <a:srgbClr val="003F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1297" cy="989637"/>
            </a:xfrm>
            <a:prstGeom prst="rect">
              <a:avLst/>
            </a:prstGeom>
          </p:spPr>
          <p:txBody>
            <a:bodyPr anchor="ctr" rtlCol="false" tIns="36037" lIns="36037" bIns="36037" rIns="3603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99165" y="8135336"/>
            <a:ext cx="2050502" cy="2564190"/>
            <a:chOff x="0" y="0"/>
            <a:chExt cx="761297" cy="952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1297" cy="952015"/>
            </a:xfrm>
            <a:custGeom>
              <a:avLst/>
              <a:gdLst/>
              <a:ahLst/>
              <a:cxnLst/>
              <a:rect r="r" b="b" t="t" l="l"/>
              <a:pathLst>
                <a:path h="952015" w="761297">
                  <a:moveTo>
                    <a:pt x="0" y="0"/>
                  </a:moveTo>
                  <a:lnTo>
                    <a:pt x="761297" y="0"/>
                  </a:lnTo>
                  <a:lnTo>
                    <a:pt x="761297" y="952015"/>
                  </a:lnTo>
                  <a:lnTo>
                    <a:pt x="0" y="952015"/>
                  </a:lnTo>
                  <a:close/>
                </a:path>
              </a:pathLst>
            </a:custGeom>
            <a:solidFill>
              <a:srgbClr val="02B7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1297" cy="990115"/>
            </a:xfrm>
            <a:prstGeom prst="rect">
              <a:avLst/>
            </a:prstGeom>
          </p:spPr>
          <p:txBody>
            <a:bodyPr anchor="ctr" rtlCol="false" tIns="36037" lIns="36037" bIns="36037" rIns="3603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52488" y="8135336"/>
            <a:ext cx="2050502" cy="2564190"/>
            <a:chOff x="0" y="0"/>
            <a:chExt cx="761297" cy="952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1297" cy="952015"/>
            </a:xfrm>
            <a:custGeom>
              <a:avLst/>
              <a:gdLst/>
              <a:ahLst/>
              <a:cxnLst/>
              <a:rect r="r" b="b" t="t" l="l"/>
              <a:pathLst>
                <a:path h="952015" w="761297">
                  <a:moveTo>
                    <a:pt x="0" y="0"/>
                  </a:moveTo>
                  <a:lnTo>
                    <a:pt x="761297" y="0"/>
                  </a:lnTo>
                  <a:lnTo>
                    <a:pt x="761297" y="952015"/>
                  </a:lnTo>
                  <a:lnTo>
                    <a:pt x="0" y="952015"/>
                  </a:lnTo>
                  <a:close/>
                </a:path>
              </a:pathLst>
            </a:custGeom>
            <a:solidFill>
              <a:srgbClr val="88C8B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1297" cy="990115"/>
            </a:xfrm>
            <a:prstGeom prst="rect">
              <a:avLst/>
            </a:prstGeom>
          </p:spPr>
          <p:txBody>
            <a:bodyPr anchor="ctr" rtlCol="false" tIns="36037" lIns="36037" bIns="36037" rIns="3603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05812" y="8898908"/>
            <a:ext cx="2050502" cy="1800618"/>
            <a:chOff x="0" y="0"/>
            <a:chExt cx="761297" cy="6685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1297" cy="668521"/>
            </a:xfrm>
            <a:custGeom>
              <a:avLst/>
              <a:gdLst/>
              <a:ahLst/>
              <a:cxnLst/>
              <a:rect r="r" b="b" t="t" l="l"/>
              <a:pathLst>
                <a:path h="668521" w="761297">
                  <a:moveTo>
                    <a:pt x="0" y="0"/>
                  </a:moveTo>
                  <a:lnTo>
                    <a:pt x="761297" y="0"/>
                  </a:lnTo>
                  <a:lnTo>
                    <a:pt x="761297" y="668521"/>
                  </a:lnTo>
                  <a:lnTo>
                    <a:pt x="0" y="668521"/>
                  </a:lnTo>
                  <a:close/>
                </a:path>
              </a:pathLst>
            </a:custGeom>
            <a:solidFill>
              <a:srgbClr val="64E7B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1297" cy="706621"/>
            </a:xfrm>
            <a:prstGeom prst="rect">
              <a:avLst/>
            </a:prstGeom>
          </p:spPr>
          <p:txBody>
            <a:bodyPr anchor="ctr" rtlCol="false" tIns="36037" lIns="36037" bIns="36037" rIns="3603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700011" y="2269799"/>
            <a:ext cx="3123382" cy="6716951"/>
          </a:xfrm>
          <a:custGeom>
            <a:avLst/>
            <a:gdLst/>
            <a:ahLst/>
            <a:cxnLst/>
            <a:rect r="r" b="b" t="t" l="l"/>
            <a:pathLst>
              <a:path h="6716951" w="3123382">
                <a:moveTo>
                  <a:pt x="0" y="0"/>
                </a:moveTo>
                <a:lnTo>
                  <a:pt x="3123382" y="0"/>
                </a:lnTo>
                <a:lnTo>
                  <a:pt x="3123382" y="6716951"/>
                </a:lnTo>
                <a:lnTo>
                  <a:pt x="0" y="6716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459012" y="8898908"/>
            <a:ext cx="2364381" cy="1800618"/>
            <a:chOff x="0" y="0"/>
            <a:chExt cx="877831" cy="6685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31" cy="668521"/>
            </a:xfrm>
            <a:custGeom>
              <a:avLst/>
              <a:gdLst/>
              <a:ahLst/>
              <a:cxnLst/>
              <a:rect r="r" b="b" t="t" l="l"/>
              <a:pathLst>
                <a:path h="668521" w="877831">
                  <a:moveTo>
                    <a:pt x="0" y="0"/>
                  </a:moveTo>
                  <a:lnTo>
                    <a:pt x="877831" y="0"/>
                  </a:lnTo>
                  <a:lnTo>
                    <a:pt x="877831" y="668521"/>
                  </a:lnTo>
                  <a:lnTo>
                    <a:pt x="0" y="668521"/>
                  </a:lnTo>
                  <a:close/>
                </a:path>
              </a:pathLst>
            </a:custGeom>
            <a:solidFill>
              <a:srgbClr val="6CFAC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7831" cy="706621"/>
            </a:xfrm>
            <a:prstGeom prst="rect">
              <a:avLst/>
            </a:prstGeom>
          </p:spPr>
          <p:txBody>
            <a:bodyPr anchor="ctr" rtlCol="false" tIns="36037" lIns="36037" bIns="36037" rIns="3603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96009" y="2834584"/>
            <a:ext cx="1344580" cy="134458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96C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298395" y="4628770"/>
            <a:ext cx="301407" cy="263731"/>
            <a:chOff x="0" y="0"/>
            <a:chExt cx="8128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AAD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12022" y="5904297"/>
            <a:ext cx="301407" cy="263731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6D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536520" y="7254349"/>
            <a:ext cx="301407" cy="263731"/>
            <a:chOff x="0" y="0"/>
            <a:chExt cx="8128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D7A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48117" y="5419973"/>
            <a:ext cx="1344580" cy="134458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6D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84047" y="8008290"/>
            <a:ext cx="1344580" cy="134458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FAC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22639" y="4075393"/>
            <a:ext cx="1344580" cy="134458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996847" y="6764553"/>
            <a:ext cx="1344580" cy="134458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F7D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2222608" y="3612286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13108" y="6240960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355704" y="7587916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142229" y="4980178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2094380" y="2594519"/>
            <a:ext cx="3061394" cy="1669807"/>
            <a:chOff x="0" y="0"/>
            <a:chExt cx="806293" cy="4397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>
            <a:off x="6149987" y="2996610"/>
            <a:ext cx="950771" cy="510264"/>
          </a:xfrm>
          <a:custGeom>
            <a:avLst/>
            <a:gdLst/>
            <a:ahLst/>
            <a:cxnLst/>
            <a:rect r="r" b="b" t="t" l="l"/>
            <a:pathLst>
              <a:path h="510264" w="950771">
                <a:moveTo>
                  <a:pt x="0" y="0"/>
                </a:moveTo>
                <a:lnTo>
                  <a:pt x="353825" y="0"/>
                </a:lnTo>
                <a:cubicBezTo>
                  <a:pt x="414453" y="0"/>
                  <a:pt x="472599" y="24084"/>
                  <a:pt x="515469" y="66955"/>
                </a:cubicBezTo>
                <a:cubicBezTo>
                  <a:pt x="558340" y="109826"/>
                  <a:pt x="582425" y="167971"/>
                  <a:pt x="582425" y="228600"/>
                </a:cubicBezTo>
                <a:lnTo>
                  <a:pt x="582425" y="326090"/>
                </a:lnTo>
                <a:cubicBezTo>
                  <a:pt x="582425" y="374936"/>
                  <a:pt x="601829" y="421781"/>
                  <a:pt x="636368" y="456321"/>
                </a:cubicBezTo>
                <a:cubicBezTo>
                  <a:pt x="670907" y="490860"/>
                  <a:pt x="717752" y="510264"/>
                  <a:pt x="766599" y="510264"/>
                </a:cubicBezTo>
                <a:lnTo>
                  <a:pt x="950772" y="510264"/>
                </a:lnTo>
              </a:path>
            </a:pathLst>
          </a:custGeom>
          <a:ln cap="flat" w="38100">
            <a:solidFill>
              <a:srgbClr val="6D96CE"/>
            </a:solidFill>
            <a:prstDash val="sysDot"/>
            <a:headEnd type="arrow" len="sm" w="med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3014000" y="3944570"/>
            <a:ext cx="3061394" cy="1669807"/>
            <a:chOff x="0" y="0"/>
            <a:chExt cx="806293" cy="43978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284880" y="5220097"/>
            <a:ext cx="3061394" cy="1669807"/>
            <a:chOff x="0" y="0"/>
            <a:chExt cx="806293" cy="43978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>
            <a:off x="6340487" y="5622188"/>
            <a:ext cx="950771" cy="510265"/>
          </a:xfrm>
          <a:custGeom>
            <a:avLst/>
            <a:gdLst/>
            <a:ahLst/>
            <a:cxnLst/>
            <a:rect r="r" b="b" t="t" l="l"/>
            <a:pathLst>
              <a:path h="510265" w="950771">
                <a:moveTo>
                  <a:pt x="0" y="0"/>
                </a:moveTo>
                <a:lnTo>
                  <a:pt x="353825" y="0"/>
                </a:lnTo>
                <a:cubicBezTo>
                  <a:pt x="480077" y="0"/>
                  <a:pt x="582425" y="102348"/>
                  <a:pt x="582425" y="228600"/>
                </a:cubicBezTo>
                <a:lnTo>
                  <a:pt x="582425" y="326091"/>
                </a:lnTo>
                <a:cubicBezTo>
                  <a:pt x="582425" y="427807"/>
                  <a:pt x="664882" y="510265"/>
                  <a:pt x="766599" y="510265"/>
                </a:cubicBezTo>
                <a:lnTo>
                  <a:pt x="950772" y="510265"/>
                </a:lnTo>
              </a:path>
            </a:pathLst>
          </a:custGeom>
          <a:ln cap="flat" w="38100">
            <a:solidFill>
              <a:srgbClr val="00C6DD"/>
            </a:solidFill>
            <a:prstDash val="sysDot"/>
            <a:headEnd type="arrow" len="sm" w="med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13227476" y="6570149"/>
            <a:ext cx="3061394" cy="1669807"/>
            <a:chOff x="0" y="0"/>
            <a:chExt cx="806293" cy="43978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>
            <a:off x="11341427" y="6972240"/>
            <a:ext cx="916253" cy="464603"/>
          </a:xfrm>
          <a:custGeom>
            <a:avLst/>
            <a:gdLst/>
            <a:ahLst/>
            <a:cxnLst/>
            <a:rect r="r" b="b" t="t" l="l"/>
            <a:pathLst>
              <a:path h="464603" w="916253">
                <a:moveTo>
                  <a:pt x="0" y="464603"/>
                </a:moveTo>
                <a:lnTo>
                  <a:pt x="216769" y="464603"/>
                </a:lnTo>
                <a:cubicBezTo>
                  <a:pt x="274259" y="464603"/>
                  <a:pt x="329396" y="441765"/>
                  <a:pt x="370047" y="401113"/>
                </a:cubicBezTo>
                <a:cubicBezTo>
                  <a:pt x="410699" y="360461"/>
                  <a:pt x="433537" y="305325"/>
                  <a:pt x="433537" y="247835"/>
                </a:cubicBezTo>
                <a:lnTo>
                  <a:pt x="433537" y="228600"/>
                </a:lnTo>
                <a:cubicBezTo>
                  <a:pt x="433537" y="102348"/>
                  <a:pt x="535885" y="0"/>
                  <a:pt x="662137" y="0"/>
                </a:cubicBezTo>
                <a:lnTo>
                  <a:pt x="916253" y="0"/>
                </a:lnTo>
              </a:path>
            </a:pathLst>
          </a:custGeom>
          <a:ln cap="flat" w="38100">
            <a:solidFill>
              <a:srgbClr val="5CD7A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64" id="64"/>
          <p:cNvSpPr/>
          <p:nvPr/>
        </p:nvSpPr>
        <p:spPr>
          <a:xfrm>
            <a:off x="11067219" y="4295820"/>
            <a:ext cx="916253" cy="451863"/>
          </a:xfrm>
          <a:custGeom>
            <a:avLst/>
            <a:gdLst/>
            <a:ahLst/>
            <a:cxnLst/>
            <a:rect r="r" b="b" t="t" l="l"/>
            <a:pathLst>
              <a:path h="451863" w="916253">
                <a:moveTo>
                  <a:pt x="0" y="451863"/>
                </a:moveTo>
                <a:lnTo>
                  <a:pt x="216769" y="451863"/>
                </a:lnTo>
                <a:cubicBezTo>
                  <a:pt x="274259" y="451863"/>
                  <a:pt x="329395" y="429025"/>
                  <a:pt x="370047" y="388373"/>
                </a:cubicBezTo>
                <a:cubicBezTo>
                  <a:pt x="410699" y="347721"/>
                  <a:pt x="433537" y="292585"/>
                  <a:pt x="433537" y="235094"/>
                </a:cubicBezTo>
                <a:lnTo>
                  <a:pt x="433537" y="225932"/>
                </a:lnTo>
                <a:cubicBezTo>
                  <a:pt x="433537" y="101153"/>
                  <a:pt x="534690" y="0"/>
                  <a:pt x="659468" y="0"/>
                </a:cubicBezTo>
                <a:lnTo>
                  <a:pt x="916253" y="0"/>
                </a:lnTo>
              </a:path>
            </a:pathLst>
          </a:custGeom>
          <a:ln cap="flat" w="38100">
            <a:solidFill>
              <a:srgbClr val="004AAD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65" id="65"/>
          <p:cNvSpPr/>
          <p:nvPr/>
        </p:nvSpPr>
        <p:spPr>
          <a:xfrm flipH="false" flipV="false" rot="0">
            <a:off x="2603608" y="8861177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2475380" y="7845676"/>
            <a:ext cx="3061394" cy="1669807"/>
            <a:chOff x="0" y="0"/>
            <a:chExt cx="806293" cy="43978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>
            <a:off x="6530987" y="8247767"/>
            <a:ext cx="950771" cy="510264"/>
          </a:xfrm>
          <a:custGeom>
            <a:avLst/>
            <a:gdLst/>
            <a:ahLst/>
            <a:cxnLst/>
            <a:rect r="r" b="b" t="t" l="l"/>
            <a:pathLst>
              <a:path h="510264" w="950771">
                <a:moveTo>
                  <a:pt x="0" y="0"/>
                </a:moveTo>
                <a:lnTo>
                  <a:pt x="353825" y="0"/>
                </a:lnTo>
                <a:cubicBezTo>
                  <a:pt x="414453" y="0"/>
                  <a:pt x="472599" y="24085"/>
                  <a:pt x="515469" y="66956"/>
                </a:cubicBezTo>
                <a:cubicBezTo>
                  <a:pt x="558340" y="109826"/>
                  <a:pt x="582425" y="167971"/>
                  <a:pt x="582425" y="228600"/>
                </a:cubicBezTo>
                <a:lnTo>
                  <a:pt x="582425" y="326091"/>
                </a:lnTo>
                <a:cubicBezTo>
                  <a:pt x="582425" y="374937"/>
                  <a:pt x="601829" y="421782"/>
                  <a:pt x="636368" y="456321"/>
                </a:cubicBezTo>
                <a:cubicBezTo>
                  <a:pt x="670907" y="490860"/>
                  <a:pt x="717752" y="510264"/>
                  <a:pt x="766599" y="510264"/>
                </a:cubicBezTo>
                <a:lnTo>
                  <a:pt x="950772" y="510264"/>
                </a:lnTo>
              </a:path>
            </a:pathLst>
          </a:custGeom>
          <a:ln cap="flat" w="38100">
            <a:solidFill>
              <a:srgbClr val="8FD0BB"/>
            </a:solidFill>
            <a:prstDash val="sysDot"/>
            <a:headEnd type="arrow" len="sm" w="med"/>
            <a:tailEnd type="none" len="sm" w="sm"/>
          </a:ln>
        </p:spPr>
      </p:sp>
      <p:sp>
        <p:nvSpPr>
          <p:cNvPr name="Freeform 70" id="70"/>
          <p:cNvSpPr/>
          <p:nvPr/>
        </p:nvSpPr>
        <p:spPr>
          <a:xfrm flipH="false" flipV="false" rot="0">
            <a:off x="8122962" y="8369291"/>
            <a:ext cx="666750" cy="622578"/>
          </a:xfrm>
          <a:custGeom>
            <a:avLst/>
            <a:gdLst/>
            <a:ahLst/>
            <a:cxnLst/>
            <a:rect r="r" b="b" t="t" l="l"/>
            <a:pathLst>
              <a:path h="622578" w="666750">
                <a:moveTo>
                  <a:pt x="0" y="0"/>
                </a:moveTo>
                <a:lnTo>
                  <a:pt x="666750" y="0"/>
                </a:lnTo>
                <a:lnTo>
                  <a:pt x="666750" y="622578"/>
                </a:lnTo>
                <a:lnTo>
                  <a:pt x="0" y="622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0335762" y="7148890"/>
            <a:ext cx="666750" cy="575905"/>
          </a:xfrm>
          <a:custGeom>
            <a:avLst/>
            <a:gdLst/>
            <a:ahLst/>
            <a:cxnLst/>
            <a:rect r="r" b="b" t="t" l="l"/>
            <a:pathLst>
              <a:path h="575905" w="666750">
                <a:moveTo>
                  <a:pt x="0" y="0"/>
                </a:moveTo>
                <a:lnTo>
                  <a:pt x="666750" y="0"/>
                </a:lnTo>
                <a:lnTo>
                  <a:pt x="666750" y="575906"/>
                </a:lnTo>
                <a:lnTo>
                  <a:pt x="0" y="5759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7787033" y="5777640"/>
            <a:ext cx="666750" cy="629245"/>
          </a:xfrm>
          <a:custGeom>
            <a:avLst/>
            <a:gdLst/>
            <a:ahLst/>
            <a:cxnLst/>
            <a:rect r="r" b="b" t="t" l="l"/>
            <a:pathLst>
              <a:path h="629245" w="666750">
                <a:moveTo>
                  <a:pt x="0" y="0"/>
                </a:moveTo>
                <a:lnTo>
                  <a:pt x="666750" y="0"/>
                </a:lnTo>
                <a:lnTo>
                  <a:pt x="666750" y="629246"/>
                </a:lnTo>
                <a:lnTo>
                  <a:pt x="0" y="6292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0013929" y="4460980"/>
            <a:ext cx="762000" cy="573405"/>
          </a:xfrm>
          <a:custGeom>
            <a:avLst/>
            <a:gdLst/>
            <a:ahLst/>
            <a:cxnLst/>
            <a:rect r="r" b="b" t="t" l="l"/>
            <a:pathLst>
              <a:path h="573405" w="762000">
                <a:moveTo>
                  <a:pt x="0" y="0"/>
                </a:moveTo>
                <a:lnTo>
                  <a:pt x="762000" y="0"/>
                </a:lnTo>
                <a:lnTo>
                  <a:pt x="762000" y="573405"/>
                </a:lnTo>
                <a:lnTo>
                  <a:pt x="0" y="5734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7640354" y="3173499"/>
            <a:ext cx="455890" cy="666750"/>
          </a:xfrm>
          <a:custGeom>
            <a:avLst/>
            <a:gdLst/>
            <a:ahLst/>
            <a:cxnLst/>
            <a:rect r="r" b="b" t="t" l="l"/>
            <a:pathLst>
              <a:path h="666750" w="455890">
                <a:moveTo>
                  <a:pt x="0" y="0"/>
                </a:moveTo>
                <a:lnTo>
                  <a:pt x="455890" y="0"/>
                </a:lnTo>
                <a:lnTo>
                  <a:pt x="45589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2002522" y="8529876"/>
            <a:ext cx="301407" cy="263731"/>
            <a:chOff x="0" y="0"/>
            <a:chExt cx="812800" cy="711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CFA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6217509">
            <a:off x="-3144658" y="184126"/>
            <a:ext cx="7315200" cy="1481328"/>
          </a:xfrm>
          <a:custGeom>
            <a:avLst/>
            <a:gdLst/>
            <a:ahLst/>
            <a:cxnLst/>
            <a:rect r="r" b="b" t="t" l="l"/>
            <a:pathLst>
              <a:path h="1481328" w="7315200">
                <a:moveTo>
                  <a:pt x="0" y="0"/>
                </a:moveTo>
                <a:lnTo>
                  <a:pt x="7315200" y="0"/>
                </a:lnTo>
                <a:lnTo>
                  <a:pt x="7315200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-4784753">
            <a:off x="11582248" y="10170309"/>
            <a:ext cx="11144977" cy="2256858"/>
          </a:xfrm>
          <a:custGeom>
            <a:avLst/>
            <a:gdLst/>
            <a:ahLst/>
            <a:cxnLst/>
            <a:rect r="r" b="b" t="t" l="l"/>
            <a:pathLst>
              <a:path h="2256858" w="11144977">
                <a:moveTo>
                  <a:pt x="0" y="0"/>
                </a:moveTo>
                <a:lnTo>
                  <a:pt x="11144977" y="0"/>
                </a:lnTo>
                <a:lnTo>
                  <a:pt x="11144977" y="2256858"/>
                </a:lnTo>
                <a:lnTo>
                  <a:pt x="0" y="22568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4726842" y="2621325"/>
            <a:ext cx="125040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6D96CE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  <a:r>
              <a:rPr lang="en-US" b="true" sz="2799">
                <a:solidFill>
                  <a:srgbClr val="6D96CE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323938" y="2799947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Loy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alty Stage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323938" y="3303883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return, recommend, and engage in long term relationships.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065735" y="4018243"/>
            <a:ext cx="86600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04.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243559" y="4149998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Purch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ase Stage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243559" y="4653934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complete the transaction and begin product or service use.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917342" y="5246903"/>
            <a:ext cx="125040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C6DD"/>
                </a:solidFill>
                <a:latin typeface="DM Sans Bold"/>
                <a:ea typeface="DM Sans Bold"/>
                <a:cs typeface="DM Sans Bold"/>
                <a:sym typeface="DM Sans Bold"/>
              </a:rPr>
              <a:t>.03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514438" y="5425526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Stage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514438" y="5929462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compare options and prepare to make a purchase choice.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388796" y="6693833"/>
            <a:ext cx="6252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6C89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457035" y="6775577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Interes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t Stage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457035" y="7279513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seek more information about offerings and value propositions.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631762" y="7951140"/>
            <a:ext cx="80397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FD0B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2704938" y="8051104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Aw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areness Stage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704938" y="8555040"/>
            <a:ext cx="260227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discover the brand through initial exposure and communication channels.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181597" y="898923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JOURNEY OVERVIEW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018110" y="780813"/>
            <a:ext cx="45340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Show the main stages from first contact to loyal customer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3375" y="7840170"/>
            <a:ext cx="19000257" cy="5415073"/>
            <a:chOff x="0" y="0"/>
            <a:chExt cx="25333676" cy="7220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33676" cy="7220098"/>
            </a:xfrm>
            <a:custGeom>
              <a:avLst/>
              <a:gdLst/>
              <a:ahLst/>
              <a:cxnLst/>
              <a:rect r="r" b="b" t="t" l="l"/>
              <a:pathLst>
                <a:path h="7220098" w="25333676">
                  <a:moveTo>
                    <a:pt x="0" y="0"/>
                  </a:moveTo>
                  <a:lnTo>
                    <a:pt x="25333676" y="0"/>
                  </a:lnTo>
                  <a:lnTo>
                    <a:pt x="25333676" y="7220098"/>
                  </a:lnTo>
                  <a:lnTo>
                    <a:pt x="0" y="722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730111" y="4729879"/>
              <a:ext cx="606854" cy="1997798"/>
              <a:chOff x="0" y="0"/>
              <a:chExt cx="109970" cy="36202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9970" cy="362027"/>
              </a:xfrm>
              <a:custGeom>
                <a:avLst/>
                <a:gdLst/>
                <a:ahLst/>
                <a:cxnLst/>
                <a:rect r="r" b="b" t="t" l="l"/>
                <a:pathLst>
                  <a:path h="362027" w="109970">
                    <a:moveTo>
                      <a:pt x="0" y="0"/>
                    </a:moveTo>
                    <a:lnTo>
                      <a:pt x="109970" y="0"/>
                    </a:lnTo>
                    <a:lnTo>
                      <a:pt x="109970" y="362027"/>
                    </a:lnTo>
                    <a:lnTo>
                      <a:pt x="0" y="362027"/>
                    </a:lnTo>
                    <a:close/>
                  </a:path>
                </a:pathLst>
              </a:custGeom>
              <a:solidFill>
                <a:srgbClr val="64E7BE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9970" cy="40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998847" y="4729879"/>
              <a:ext cx="695912" cy="1997798"/>
              <a:chOff x="0" y="0"/>
              <a:chExt cx="126108" cy="36202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6108" cy="362027"/>
              </a:xfrm>
              <a:custGeom>
                <a:avLst/>
                <a:gdLst/>
                <a:ahLst/>
                <a:cxnLst/>
                <a:rect r="r" b="b" t="t" l="l"/>
                <a:pathLst>
                  <a:path h="362027" w="126108">
                    <a:moveTo>
                      <a:pt x="0" y="0"/>
                    </a:moveTo>
                    <a:lnTo>
                      <a:pt x="126108" y="0"/>
                    </a:lnTo>
                    <a:lnTo>
                      <a:pt x="126108" y="362027"/>
                    </a:lnTo>
                    <a:lnTo>
                      <a:pt x="0" y="362027"/>
                    </a:lnTo>
                    <a:close/>
                  </a:path>
                </a:pathLst>
              </a:custGeom>
              <a:solidFill>
                <a:srgbClr val="A1EBD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26108" cy="40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336965" y="4729879"/>
              <a:ext cx="538028" cy="1997798"/>
              <a:chOff x="0" y="0"/>
              <a:chExt cx="97498" cy="36202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7498" cy="362027"/>
              </a:xfrm>
              <a:custGeom>
                <a:avLst/>
                <a:gdLst/>
                <a:ahLst/>
                <a:cxnLst/>
                <a:rect r="r" b="b" t="t" l="l"/>
                <a:pathLst>
                  <a:path h="362027" w="97498">
                    <a:moveTo>
                      <a:pt x="0" y="0"/>
                    </a:moveTo>
                    <a:lnTo>
                      <a:pt x="97498" y="0"/>
                    </a:lnTo>
                    <a:lnTo>
                      <a:pt x="97498" y="362027"/>
                    </a:lnTo>
                    <a:lnTo>
                      <a:pt x="0" y="362027"/>
                    </a:lnTo>
                    <a:close/>
                  </a:path>
                </a:pathLst>
              </a:custGeom>
              <a:solidFill>
                <a:srgbClr val="5CD7A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7498" cy="40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694759" y="4729879"/>
              <a:ext cx="561836" cy="1997798"/>
              <a:chOff x="0" y="0"/>
              <a:chExt cx="101812" cy="36202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1812" cy="362027"/>
              </a:xfrm>
              <a:custGeom>
                <a:avLst/>
                <a:gdLst/>
                <a:ahLst/>
                <a:cxnLst/>
                <a:rect r="r" b="b" t="t" l="l"/>
                <a:pathLst>
                  <a:path h="362027" w="101812">
                    <a:moveTo>
                      <a:pt x="0" y="0"/>
                    </a:moveTo>
                    <a:lnTo>
                      <a:pt x="101812" y="0"/>
                    </a:lnTo>
                    <a:lnTo>
                      <a:pt x="101812" y="362027"/>
                    </a:lnTo>
                    <a:lnTo>
                      <a:pt x="0" y="362027"/>
                    </a:lnTo>
                    <a:close/>
                  </a:path>
                </a:pathLst>
              </a:custGeom>
              <a:solidFill>
                <a:srgbClr val="8FD0B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1812" cy="40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406626" y="5215882"/>
              <a:ext cx="593285" cy="1511795"/>
              <a:chOff x="0" y="0"/>
              <a:chExt cx="107511" cy="2739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7511" cy="273957"/>
              </a:xfrm>
              <a:custGeom>
                <a:avLst/>
                <a:gdLst/>
                <a:ahLst/>
                <a:cxnLst/>
                <a:rect r="r" b="b" t="t" l="l"/>
                <a:pathLst>
                  <a:path h="273957" w="107511">
                    <a:moveTo>
                      <a:pt x="0" y="0"/>
                    </a:moveTo>
                    <a:lnTo>
                      <a:pt x="107511" y="0"/>
                    </a:lnTo>
                    <a:lnTo>
                      <a:pt x="107511" y="273957"/>
                    </a:lnTo>
                    <a:lnTo>
                      <a:pt x="0" y="273957"/>
                    </a:lnTo>
                    <a:close/>
                  </a:path>
                </a:pathLst>
              </a:custGeom>
              <a:solidFill>
                <a:srgbClr val="00AAB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7511" cy="3120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507869" y="5215882"/>
              <a:ext cx="653550" cy="1511795"/>
              <a:chOff x="0" y="0"/>
              <a:chExt cx="118432" cy="27395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8432" cy="273957"/>
              </a:xfrm>
              <a:custGeom>
                <a:avLst/>
                <a:gdLst/>
                <a:ahLst/>
                <a:cxnLst/>
                <a:rect r="r" b="b" t="t" l="l"/>
                <a:pathLst>
                  <a:path h="273957" w="118432">
                    <a:moveTo>
                      <a:pt x="0" y="0"/>
                    </a:moveTo>
                    <a:lnTo>
                      <a:pt x="118432" y="0"/>
                    </a:lnTo>
                    <a:lnTo>
                      <a:pt x="118432" y="273957"/>
                    </a:lnTo>
                    <a:lnTo>
                      <a:pt x="0" y="273957"/>
                    </a:lnTo>
                    <a:close/>
                  </a:path>
                </a:pathLst>
              </a:custGeom>
              <a:solidFill>
                <a:srgbClr val="00347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18432" cy="3120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22" id="22"/>
          <p:cNvSpPr/>
          <p:nvPr/>
        </p:nvSpPr>
        <p:spPr>
          <a:xfrm flipV="true">
            <a:off x="2090236" y="8125920"/>
            <a:ext cx="0" cy="654829"/>
          </a:xfrm>
          <a:prstGeom prst="line">
            <a:avLst/>
          </a:prstGeom>
          <a:ln cap="flat" w="38100">
            <a:solidFill>
              <a:srgbClr val="88C8B3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7991536" y="3393372"/>
            <a:ext cx="2310436" cy="3145498"/>
            <a:chOff x="0" y="0"/>
            <a:chExt cx="608510" cy="8284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8510" cy="828444"/>
            </a:xfrm>
            <a:custGeom>
              <a:avLst/>
              <a:gdLst/>
              <a:ahLst/>
              <a:cxnLst/>
              <a:rect r="r" b="b" t="t" l="l"/>
              <a:pathLst>
                <a:path h="828444" w="608510">
                  <a:moveTo>
                    <a:pt x="50263" y="0"/>
                  </a:moveTo>
                  <a:lnTo>
                    <a:pt x="558247" y="0"/>
                  </a:lnTo>
                  <a:cubicBezTo>
                    <a:pt x="586006" y="0"/>
                    <a:pt x="608510" y="22503"/>
                    <a:pt x="608510" y="50263"/>
                  </a:cubicBezTo>
                  <a:lnTo>
                    <a:pt x="608510" y="778181"/>
                  </a:lnTo>
                  <a:cubicBezTo>
                    <a:pt x="608510" y="791512"/>
                    <a:pt x="603214" y="804296"/>
                    <a:pt x="593788" y="813722"/>
                  </a:cubicBezTo>
                  <a:cubicBezTo>
                    <a:pt x="584362" y="823148"/>
                    <a:pt x="571578" y="828444"/>
                    <a:pt x="558247" y="828444"/>
                  </a:cubicBezTo>
                  <a:lnTo>
                    <a:pt x="50263" y="828444"/>
                  </a:lnTo>
                  <a:cubicBezTo>
                    <a:pt x="36932" y="828444"/>
                    <a:pt x="24148" y="823148"/>
                    <a:pt x="14722" y="813722"/>
                  </a:cubicBezTo>
                  <a:cubicBezTo>
                    <a:pt x="5296" y="804296"/>
                    <a:pt x="0" y="791512"/>
                    <a:pt x="0" y="778181"/>
                  </a:cubicBezTo>
                  <a:lnTo>
                    <a:pt x="0" y="50263"/>
                  </a:lnTo>
                  <a:cubicBezTo>
                    <a:pt x="0" y="36932"/>
                    <a:pt x="5296" y="24148"/>
                    <a:pt x="14722" y="14722"/>
                  </a:cubicBezTo>
                  <a:cubicBezTo>
                    <a:pt x="24148" y="5296"/>
                    <a:pt x="36932" y="0"/>
                    <a:pt x="5026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08510" cy="87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35775" y="2708316"/>
            <a:ext cx="2310436" cy="3145498"/>
            <a:chOff x="0" y="0"/>
            <a:chExt cx="608510" cy="8284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8510" cy="828444"/>
            </a:xfrm>
            <a:custGeom>
              <a:avLst/>
              <a:gdLst/>
              <a:ahLst/>
              <a:cxnLst/>
              <a:rect r="r" b="b" t="t" l="l"/>
              <a:pathLst>
                <a:path h="828444" w="608510">
                  <a:moveTo>
                    <a:pt x="50263" y="0"/>
                  </a:moveTo>
                  <a:lnTo>
                    <a:pt x="558247" y="0"/>
                  </a:lnTo>
                  <a:cubicBezTo>
                    <a:pt x="586006" y="0"/>
                    <a:pt x="608510" y="22503"/>
                    <a:pt x="608510" y="50263"/>
                  </a:cubicBezTo>
                  <a:lnTo>
                    <a:pt x="608510" y="778181"/>
                  </a:lnTo>
                  <a:cubicBezTo>
                    <a:pt x="608510" y="791512"/>
                    <a:pt x="603214" y="804296"/>
                    <a:pt x="593788" y="813722"/>
                  </a:cubicBezTo>
                  <a:cubicBezTo>
                    <a:pt x="584362" y="823148"/>
                    <a:pt x="571578" y="828444"/>
                    <a:pt x="558247" y="828444"/>
                  </a:cubicBezTo>
                  <a:lnTo>
                    <a:pt x="50263" y="828444"/>
                  </a:lnTo>
                  <a:cubicBezTo>
                    <a:pt x="36932" y="828444"/>
                    <a:pt x="24148" y="823148"/>
                    <a:pt x="14722" y="813722"/>
                  </a:cubicBezTo>
                  <a:cubicBezTo>
                    <a:pt x="5296" y="804296"/>
                    <a:pt x="0" y="791512"/>
                    <a:pt x="0" y="778181"/>
                  </a:cubicBezTo>
                  <a:lnTo>
                    <a:pt x="0" y="50263"/>
                  </a:lnTo>
                  <a:cubicBezTo>
                    <a:pt x="0" y="36932"/>
                    <a:pt x="5296" y="24148"/>
                    <a:pt x="14722" y="14722"/>
                  </a:cubicBezTo>
                  <a:cubicBezTo>
                    <a:pt x="24148" y="5296"/>
                    <a:pt x="36932" y="0"/>
                    <a:pt x="5026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8510" cy="87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67407" y="3755581"/>
            <a:ext cx="2310436" cy="3145498"/>
            <a:chOff x="0" y="0"/>
            <a:chExt cx="608510" cy="8284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8510" cy="828444"/>
            </a:xfrm>
            <a:custGeom>
              <a:avLst/>
              <a:gdLst/>
              <a:ahLst/>
              <a:cxnLst/>
              <a:rect r="r" b="b" t="t" l="l"/>
              <a:pathLst>
                <a:path h="828444" w="608510">
                  <a:moveTo>
                    <a:pt x="50263" y="0"/>
                  </a:moveTo>
                  <a:lnTo>
                    <a:pt x="558247" y="0"/>
                  </a:lnTo>
                  <a:cubicBezTo>
                    <a:pt x="586006" y="0"/>
                    <a:pt x="608510" y="22503"/>
                    <a:pt x="608510" y="50263"/>
                  </a:cubicBezTo>
                  <a:lnTo>
                    <a:pt x="608510" y="778181"/>
                  </a:lnTo>
                  <a:cubicBezTo>
                    <a:pt x="608510" y="791512"/>
                    <a:pt x="603214" y="804296"/>
                    <a:pt x="593788" y="813722"/>
                  </a:cubicBezTo>
                  <a:cubicBezTo>
                    <a:pt x="584362" y="823148"/>
                    <a:pt x="571578" y="828444"/>
                    <a:pt x="558247" y="828444"/>
                  </a:cubicBezTo>
                  <a:lnTo>
                    <a:pt x="50263" y="828444"/>
                  </a:lnTo>
                  <a:cubicBezTo>
                    <a:pt x="36932" y="828444"/>
                    <a:pt x="24148" y="823148"/>
                    <a:pt x="14722" y="813722"/>
                  </a:cubicBezTo>
                  <a:cubicBezTo>
                    <a:pt x="5296" y="804296"/>
                    <a:pt x="0" y="791512"/>
                    <a:pt x="0" y="778181"/>
                  </a:cubicBezTo>
                  <a:lnTo>
                    <a:pt x="0" y="50263"/>
                  </a:lnTo>
                  <a:cubicBezTo>
                    <a:pt x="0" y="36932"/>
                    <a:pt x="5296" y="24148"/>
                    <a:pt x="14722" y="14722"/>
                  </a:cubicBezTo>
                  <a:cubicBezTo>
                    <a:pt x="24148" y="5296"/>
                    <a:pt x="36932" y="0"/>
                    <a:pt x="5026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08510" cy="87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3279" y="4117789"/>
            <a:ext cx="2310436" cy="3145498"/>
            <a:chOff x="0" y="0"/>
            <a:chExt cx="608510" cy="8284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8510" cy="828444"/>
            </a:xfrm>
            <a:custGeom>
              <a:avLst/>
              <a:gdLst/>
              <a:ahLst/>
              <a:cxnLst/>
              <a:rect r="r" b="b" t="t" l="l"/>
              <a:pathLst>
                <a:path h="828444" w="608510">
                  <a:moveTo>
                    <a:pt x="50263" y="0"/>
                  </a:moveTo>
                  <a:lnTo>
                    <a:pt x="558247" y="0"/>
                  </a:lnTo>
                  <a:cubicBezTo>
                    <a:pt x="586006" y="0"/>
                    <a:pt x="608510" y="22503"/>
                    <a:pt x="608510" y="50263"/>
                  </a:cubicBezTo>
                  <a:lnTo>
                    <a:pt x="608510" y="778181"/>
                  </a:lnTo>
                  <a:cubicBezTo>
                    <a:pt x="608510" y="791512"/>
                    <a:pt x="603214" y="804296"/>
                    <a:pt x="593788" y="813722"/>
                  </a:cubicBezTo>
                  <a:cubicBezTo>
                    <a:pt x="584362" y="823148"/>
                    <a:pt x="571578" y="828444"/>
                    <a:pt x="558247" y="828444"/>
                  </a:cubicBezTo>
                  <a:lnTo>
                    <a:pt x="50263" y="828444"/>
                  </a:lnTo>
                  <a:cubicBezTo>
                    <a:pt x="36932" y="828444"/>
                    <a:pt x="24148" y="823148"/>
                    <a:pt x="14722" y="813722"/>
                  </a:cubicBezTo>
                  <a:cubicBezTo>
                    <a:pt x="5296" y="804296"/>
                    <a:pt x="0" y="791512"/>
                    <a:pt x="0" y="778181"/>
                  </a:cubicBezTo>
                  <a:lnTo>
                    <a:pt x="0" y="50263"/>
                  </a:lnTo>
                  <a:cubicBezTo>
                    <a:pt x="0" y="36932"/>
                    <a:pt x="5296" y="24148"/>
                    <a:pt x="14722" y="14722"/>
                  </a:cubicBezTo>
                  <a:cubicBezTo>
                    <a:pt x="24148" y="5296"/>
                    <a:pt x="36932" y="0"/>
                    <a:pt x="5026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8510" cy="87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5861" y="6697170"/>
            <a:ext cx="1428750" cy="142875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709236" y="7108650"/>
            <a:ext cx="762000" cy="605790"/>
          </a:xfrm>
          <a:custGeom>
            <a:avLst/>
            <a:gdLst/>
            <a:ahLst/>
            <a:cxnLst/>
            <a:rect r="r" b="b" t="t" l="l"/>
            <a:pathLst>
              <a:path h="605790" w="762000">
                <a:moveTo>
                  <a:pt x="0" y="0"/>
                </a:moveTo>
                <a:lnTo>
                  <a:pt x="762000" y="0"/>
                </a:lnTo>
                <a:lnTo>
                  <a:pt x="762000" y="605790"/>
                </a:lnTo>
                <a:lnTo>
                  <a:pt x="0" y="605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 flipV="true">
            <a:off x="9144000" y="7527435"/>
            <a:ext cx="0" cy="654829"/>
          </a:xfrm>
          <a:prstGeom prst="line">
            <a:avLst/>
          </a:prstGeom>
          <a:ln cap="flat" w="38100">
            <a:solidFill>
              <a:srgbClr val="00C6DD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8429625" y="6098685"/>
            <a:ext cx="1428750" cy="142875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8820626" y="6432060"/>
            <a:ext cx="646747" cy="762000"/>
          </a:xfrm>
          <a:custGeom>
            <a:avLst/>
            <a:gdLst/>
            <a:ahLst/>
            <a:cxnLst/>
            <a:rect r="r" b="b" t="t" l="l"/>
            <a:pathLst>
              <a:path h="762000" w="646747">
                <a:moveTo>
                  <a:pt x="0" y="0"/>
                </a:moveTo>
                <a:lnTo>
                  <a:pt x="646748" y="0"/>
                </a:lnTo>
                <a:lnTo>
                  <a:pt x="64674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 flipV="true">
            <a:off x="12670882" y="7211079"/>
            <a:ext cx="0" cy="654829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1515664" y="3031164"/>
            <a:ext cx="2310436" cy="3145498"/>
            <a:chOff x="0" y="0"/>
            <a:chExt cx="608510" cy="8284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8510" cy="828444"/>
            </a:xfrm>
            <a:custGeom>
              <a:avLst/>
              <a:gdLst/>
              <a:ahLst/>
              <a:cxnLst/>
              <a:rect r="r" b="b" t="t" l="l"/>
              <a:pathLst>
                <a:path h="828444" w="608510">
                  <a:moveTo>
                    <a:pt x="50263" y="0"/>
                  </a:moveTo>
                  <a:lnTo>
                    <a:pt x="558247" y="0"/>
                  </a:lnTo>
                  <a:cubicBezTo>
                    <a:pt x="586006" y="0"/>
                    <a:pt x="608510" y="22503"/>
                    <a:pt x="608510" y="50263"/>
                  </a:cubicBezTo>
                  <a:lnTo>
                    <a:pt x="608510" y="778181"/>
                  </a:lnTo>
                  <a:cubicBezTo>
                    <a:pt x="608510" y="791512"/>
                    <a:pt x="603214" y="804296"/>
                    <a:pt x="593788" y="813722"/>
                  </a:cubicBezTo>
                  <a:cubicBezTo>
                    <a:pt x="584362" y="823148"/>
                    <a:pt x="571578" y="828444"/>
                    <a:pt x="558247" y="828444"/>
                  </a:cubicBezTo>
                  <a:lnTo>
                    <a:pt x="50263" y="828444"/>
                  </a:lnTo>
                  <a:cubicBezTo>
                    <a:pt x="36932" y="828444"/>
                    <a:pt x="24148" y="823148"/>
                    <a:pt x="14722" y="813722"/>
                  </a:cubicBezTo>
                  <a:cubicBezTo>
                    <a:pt x="5296" y="804296"/>
                    <a:pt x="0" y="791512"/>
                    <a:pt x="0" y="778181"/>
                  </a:cubicBezTo>
                  <a:lnTo>
                    <a:pt x="0" y="50263"/>
                  </a:lnTo>
                  <a:cubicBezTo>
                    <a:pt x="0" y="36932"/>
                    <a:pt x="5296" y="24148"/>
                    <a:pt x="14722" y="14722"/>
                  </a:cubicBezTo>
                  <a:cubicBezTo>
                    <a:pt x="24148" y="5296"/>
                    <a:pt x="36932" y="0"/>
                    <a:pt x="5026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08510" cy="87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56507" y="5782329"/>
            <a:ext cx="1428750" cy="142875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2242257" y="6253995"/>
            <a:ext cx="857250" cy="485418"/>
          </a:xfrm>
          <a:custGeom>
            <a:avLst/>
            <a:gdLst/>
            <a:ahLst/>
            <a:cxnLst/>
            <a:rect r="r" b="b" t="t" l="l"/>
            <a:pathLst>
              <a:path h="485418" w="857250">
                <a:moveTo>
                  <a:pt x="0" y="0"/>
                </a:moveTo>
                <a:lnTo>
                  <a:pt x="857250" y="0"/>
                </a:lnTo>
                <a:lnTo>
                  <a:pt x="857250" y="485418"/>
                </a:lnTo>
                <a:lnTo>
                  <a:pt x="0" y="4854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>
            <a:off x="5617118" y="7840170"/>
            <a:ext cx="0" cy="327415"/>
          </a:xfrm>
          <a:custGeom>
            <a:avLst/>
            <a:gdLst/>
            <a:ahLst/>
            <a:cxnLst/>
            <a:rect r="r" b="b" t="t" l="l"/>
            <a:pathLst>
              <a:path h="327415" w="0">
                <a:moveTo>
                  <a:pt x="0" y="327414"/>
                </a:moveTo>
                <a:lnTo>
                  <a:pt x="0" y="0"/>
                </a:lnTo>
              </a:path>
            </a:pathLst>
          </a:custGeom>
          <a:ln cap="flat" w="38100">
            <a:solidFill>
              <a:srgbClr val="46C89F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4902743" y="6411420"/>
            <a:ext cx="1428750" cy="1428750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A9F7DE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5318509" y="6744795"/>
            <a:ext cx="597217" cy="762000"/>
          </a:xfrm>
          <a:custGeom>
            <a:avLst/>
            <a:gdLst/>
            <a:ahLst/>
            <a:cxnLst/>
            <a:rect r="r" b="b" t="t" l="l"/>
            <a:pathLst>
              <a:path h="762000" w="597217">
                <a:moveTo>
                  <a:pt x="0" y="0"/>
                </a:moveTo>
                <a:lnTo>
                  <a:pt x="597218" y="0"/>
                </a:lnTo>
                <a:lnTo>
                  <a:pt x="5972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7" id="57"/>
          <p:cNvSpPr/>
          <p:nvPr/>
        </p:nvSpPr>
        <p:spPr>
          <a:xfrm flipV="true">
            <a:off x="16197764" y="6872722"/>
            <a:ext cx="0" cy="654829"/>
          </a:xfrm>
          <a:prstGeom prst="line">
            <a:avLst/>
          </a:prstGeom>
          <a:ln cap="flat" w="38100">
            <a:solidFill>
              <a:srgbClr val="6D96CE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5483389" y="5443972"/>
            <a:ext cx="1428750" cy="1428750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D96CE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5792951" y="5777823"/>
            <a:ext cx="809625" cy="761047"/>
          </a:xfrm>
          <a:custGeom>
            <a:avLst/>
            <a:gdLst/>
            <a:ahLst/>
            <a:cxnLst/>
            <a:rect r="r" b="b" t="t" l="l"/>
            <a:pathLst>
              <a:path h="761047" w="809625">
                <a:moveTo>
                  <a:pt x="0" y="0"/>
                </a:moveTo>
                <a:lnTo>
                  <a:pt x="809625" y="0"/>
                </a:lnTo>
                <a:lnTo>
                  <a:pt x="809625" y="761047"/>
                </a:lnTo>
                <a:lnTo>
                  <a:pt x="0" y="761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9989720">
            <a:off x="10343242" y="-1025670"/>
            <a:ext cx="9982151" cy="2208551"/>
          </a:xfrm>
          <a:custGeom>
            <a:avLst/>
            <a:gdLst/>
            <a:ahLst/>
            <a:cxnLst/>
            <a:rect r="r" b="b" t="t" l="l"/>
            <a:pathLst>
              <a:path h="2208551" w="9982151">
                <a:moveTo>
                  <a:pt x="0" y="0"/>
                </a:moveTo>
                <a:lnTo>
                  <a:pt x="9982151" y="0"/>
                </a:lnTo>
                <a:lnTo>
                  <a:pt x="9982151" y="2208551"/>
                </a:lnTo>
                <a:lnTo>
                  <a:pt x="0" y="22085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935018" y="4236737"/>
            <a:ext cx="23104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35018" y="4525980"/>
            <a:ext cx="2310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8FD0B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13907" y="5478797"/>
            <a:ext cx="1752658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Map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 current journey and identify major gaps in customer experience.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88782" y="3638253"/>
            <a:ext cx="23104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988782" y="3927495"/>
            <a:ext cx="2310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AABD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44082" y="4880313"/>
            <a:ext cx="1799836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Im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plem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ent changes across teams and systems with clear responsibilities.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515664" y="3321579"/>
            <a:ext cx="23104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515664" y="3611139"/>
            <a:ext cx="2310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3F93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98021" y="4563957"/>
            <a:ext cx="1945721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Meas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ure performance using defined experience and satisfaction metrics.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461900" y="3950987"/>
            <a:ext cx="23104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461900" y="4240230"/>
            <a:ext cx="2310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46C89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643176" y="5193047"/>
            <a:ext cx="1947884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Design im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rovements for key touchpoints and communication channels.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5042546" y="2983539"/>
            <a:ext cx="23104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042546" y="3272782"/>
            <a:ext cx="2310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6D96CE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334318" y="4225599"/>
            <a:ext cx="1726893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ptimize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 processes to sustain consistent and positive customer journeys.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28072" y="1391541"/>
            <a:ext cx="5103421" cy="131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3"/>
              </a:lnSpc>
            </a:pPr>
            <a:r>
              <a:rPr lang="en-US" sz="5053" b="true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EXPERIENC</a:t>
            </a:r>
            <a:r>
              <a:rPr lang="en-US" b="true" sz="5053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 ROADMAP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306741" y="1407201"/>
            <a:ext cx="895255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Ou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tline a strategic plan to improve journey stages over time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017042" y="5256609"/>
            <a:ext cx="1428750" cy="14287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A9F7D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2662204" y="5970984"/>
            <a:ext cx="448633" cy="0"/>
          </a:xfrm>
          <a:prstGeom prst="line">
            <a:avLst/>
          </a:prstGeom>
          <a:ln cap="flat" w="38100">
            <a:solidFill>
              <a:srgbClr val="8FD0BB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-10800000">
            <a:off x="4338122" y="7809336"/>
            <a:ext cx="1428750" cy="14287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8CD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5052497" y="7454498"/>
            <a:ext cx="0" cy="448633"/>
          </a:xfrm>
          <a:prstGeom prst="line">
            <a:avLst/>
          </a:prstGeom>
          <a:ln cap="flat" w="38100">
            <a:solidFill>
              <a:srgbClr val="008CDA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305262" y="8724416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177033" y="7688807"/>
            <a:ext cx="3061394" cy="1669807"/>
            <a:chOff x="0" y="0"/>
            <a:chExt cx="806293" cy="4397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806763" y="6171689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678535" y="5136080"/>
            <a:ext cx="3061394" cy="1669807"/>
            <a:chOff x="0" y="0"/>
            <a:chExt cx="806293" cy="4397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9581328" y="7809336"/>
            <a:ext cx="1428750" cy="14287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0295703" y="7454498"/>
            <a:ext cx="0" cy="448633"/>
          </a:xfrm>
          <a:prstGeom prst="line">
            <a:avLst/>
          </a:prstGeom>
          <a:ln cap="flat" w="38100">
            <a:solidFill>
              <a:srgbClr val="46C89F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1548468" y="8724416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420240" y="7688807"/>
            <a:ext cx="3061394" cy="1669807"/>
            <a:chOff x="0" y="0"/>
            <a:chExt cx="806293" cy="4397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38775" y="5469148"/>
            <a:ext cx="3294829" cy="871070"/>
            <a:chOff x="0" y="0"/>
            <a:chExt cx="1578790" cy="4173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78790" cy="417393"/>
            </a:xfrm>
            <a:custGeom>
              <a:avLst/>
              <a:gdLst/>
              <a:ahLst/>
              <a:cxnLst/>
              <a:rect r="r" b="b" t="t" l="l"/>
              <a:pathLst>
                <a:path h="417393" w="1578790">
                  <a:moveTo>
                    <a:pt x="1375590" y="0"/>
                  </a:moveTo>
                  <a:lnTo>
                    <a:pt x="0" y="0"/>
                  </a:lnTo>
                  <a:lnTo>
                    <a:pt x="0" y="417393"/>
                  </a:lnTo>
                  <a:lnTo>
                    <a:pt x="1375590" y="417393"/>
                  </a:lnTo>
                  <a:lnTo>
                    <a:pt x="1578790" y="208696"/>
                  </a:lnTo>
                  <a:lnTo>
                    <a:pt x="1375590" y="0"/>
                  </a:lnTo>
                  <a:close/>
                </a:path>
              </a:pathLst>
            </a:custGeom>
            <a:solidFill>
              <a:srgbClr val="A9F7D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64490" cy="455493"/>
            </a:xfrm>
            <a:prstGeom prst="rect">
              <a:avLst/>
            </a:prstGeom>
          </p:spPr>
          <p:txBody>
            <a:bodyPr anchor="ctr" rtlCol="false" tIns="45940" lIns="45940" bIns="45940" rIns="4594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true" rot="0">
            <a:off x="7417185" y="5469148"/>
            <a:ext cx="3294829" cy="1742141"/>
          </a:xfrm>
          <a:custGeom>
            <a:avLst/>
            <a:gdLst/>
            <a:ahLst/>
            <a:cxnLst/>
            <a:rect r="r" b="b" t="t" l="l"/>
            <a:pathLst>
              <a:path h="1742141" w="3294829">
                <a:moveTo>
                  <a:pt x="0" y="1742141"/>
                </a:moveTo>
                <a:lnTo>
                  <a:pt x="3294829" y="1742141"/>
                </a:lnTo>
                <a:lnTo>
                  <a:pt x="3294829" y="0"/>
                </a:lnTo>
                <a:lnTo>
                  <a:pt x="0" y="0"/>
                </a:lnTo>
                <a:lnTo>
                  <a:pt x="0" y="174214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798113" y="4594414"/>
            <a:ext cx="3308685" cy="1749467"/>
          </a:xfrm>
          <a:custGeom>
            <a:avLst/>
            <a:gdLst/>
            <a:ahLst/>
            <a:cxnLst/>
            <a:rect r="r" b="b" t="t" l="l"/>
            <a:pathLst>
              <a:path h="1749467" w="3308685">
                <a:moveTo>
                  <a:pt x="0" y="0"/>
                </a:moveTo>
                <a:lnTo>
                  <a:pt x="3308686" y="0"/>
                </a:lnTo>
                <a:lnTo>
                  <a:pt x="3308686" y="1749467"/>
                </a:lnTo>
                <a:lnTo>
                  <a:pt x="0" y="17494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true" rot="0">
            <a:off x="2192898" y="5469148"/>
            <a:ext cx="3294829" cy="1742141"/>
          </a:xfrm>
          <a:custGeom>
            <a:avLst/>
            <a:gdLst/>
            <a:ahLst/>
            <a:cxnLst/>
            <a:rect r="r" b="b" t="t" l="l"/>
            <a:pathLst>
              <a:path h="1742141" w="3294829">
                <a:moveTo>
                  <a:pt x="0" y="1742141"/>
                </a:moveTo>
                <a:lnTo>
                  <a:pt x="3294829" y="1742141"/>
                </a:lnTo>
                <a:lnTo>
                  <a:pt x="3294829" y="0"/>
                </a:lnTo>
                <a:lnTo>
                  <a:pt x="0" y="0"/>
                </a:lnTo>
                <a:lnTo>
                  <a:pt x="0" y="174214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426173" y="4594414"/>
            <a:ext cx="3308685" cy="1749467"/>
          </a:xfrm>
          <a:custGeom>
            <a:avLst/>
            <a:gdLst/>
            <a:ahLst/>
            <a:cxnLst/>
            <a:rect r="r" b="b" t="t" l="l"/>
            <a:pathLst>
              <a:path h="1749467" w="3308685">
                <a:moveTo>
                  <a:pt x="0" y="0"/>
                </a:moveTo>
                <a:lnTo>
                  <a:pt x="3308685" y="0"/>
                </a:lnTo>
                <a:lnTo>
                  <a:pt x="3308685" y="1749467"/>
                </a:lnTo>
                <a:lnTo>
                  <a:pt x="0" y="17494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718468" y="3480835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7" y="0"/>
                </a:lnTo>
                <a:lnTo>
                  <a:pt x="2804937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3590239" y="2445226"/>
            <a:ext cx="3061394" cy="1669807"/>
            <a:chOff x="0" y="0"/>
            <a:chExt cx="806293" cy="4397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51327" y="2565755"/>
            <a:ext cx="1428750" cy="142875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 flipV="true">
            <a:off x="2465702" y="3900710"/>
            <a:ext cx="0" cy="448633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8983587" y="3480835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8855359" y="2445226"/>
            <a:ext cx="3061394" cy="1669807"/>
            <a:chOff x="0" y="0"/>
            <a:chExt cx="806293" cy="43978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016447" y="2565755"/>
            <a:ext cx="1428750" cy="142875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 flipV="true">
            <a:off x="7730822" y="3900710"/>
            <a:ext cx="0" cy="448633"/>
          </a:xfrm>
          <a:prstGeom prst="line">
            <a:avLst/>
          </a:prstGeom>
          <a:ln cap="flat" w="38100">
            <a:solidFill>
              <a:srgbClr val="00C6DD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2103276" y="2899130"/>
            <a:ext cx="724852" cy="762000"/>
          </a:xfrm>
          <a:custGeom>
            <a:avLst/>
            <a:gdLst/>
            <a:ahLst/>
            <a:cxnLst/>
            <a:rect r="r" b="b" t="t" l="l"/>
            <a:pathLst>
              <a:path h="762000" w="724852">
                <a:moveTo>
                  <a:pt x="0" y="0"/>
                </a:moveTo>
                <a:lnTo>
                  <a:pt x="724853" y="0"/>
                </a:lnTo>
                <a:lnTo>
                  <a:pt x="72485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7329769" y="2899130"/>
            <a:ext cx="802105" cy="762000"/>
          </a:xfrm>
          <a:custGeom>
            <a:avLst/>
            <a:gdLst/>
            <a:ahLst/>
            <a:cxnLst/>
            <a:rect r="r" b="b" t="t" l="l"/>
            <a:pathLst>
              <a:path h="762000" w="802105">
                <a:moveTo>
                  <a:pt x="0" y="0"/>
                </a:moveTo>
                <a:lnTo>
                  <a:pt x="802106" y="0"/>
                </a:lnTo>
                <a:lnTo>
                  <a:pt x="802106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705310" y="8142711"/>
            <a:ext cx="694373" cy="762000"/>
          </a:xfrm>
          <a:custGeom>
            <a:avLst/>
            <a:gdLst/>
            <a:ahLst/>
            <a:cxnLst/>
            <a:rect r="r" b="b" t="t" l="l"/>
            <a:pathLst>
              <a:path h="762000" w="694373">
                <a:moveTo>
                  <a:pt x="0" y="0"/>
                </a:moveTo>
                <a:lnTo>
                  <a:pt x="694373" y="0"/>
                </a:lnTo>
                <a:lnTo>
                  <a:pt x="69437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906927" y="8142711"/>
            <a:ext cx="777551" cy="762000"/>
          </a:xfrm>
          <a:custGeom>
            <a:avLst/>
            <a:gdLst/>
            <a:ahLst/>
            <a:cxnLst/>
            <a:rect r="r" b="b" t="t" l="l"/>
            <a:pathLst>
              <a:path h="762000" w="777551">
                <a:moveTo>
                  <a:pt x="0" y="0"/>
                </a:moveTo>
                <a:lnTo>
                  <a:pt x="777551" y="0"/>
                </a:lnTo>
                <a:lnTo>
                  <a:pt x="77755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372801" y="5589984"/>
            <a:ext cx="717232" cy="762000"/>
          </a:xfrm>
          <a:custGeom>
            <a:avLst/>
            <a:gdLst/>
            <a:ahLst/>
            <a:cxnLst/>
            <a:rect r="r" b="b" t="t" l="l"/>
            <a:pathLst>
              <a:path h="762000" w="717232">
                <a:moveTo>
                  <a:pt x="0" y="0"/>
                </a:moveTo>
                <a:lnTo>
                  <a:pt x="717232" y="0"/>
                </a:lnTo>
                <a:lnTo>
                  <a:pt x="717232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2173923">
            <a:off x="11846571" y="-372274"/>
            <a:ext cx="12079425" cy="3714423"/>
          </a:xfrm>
          <a:custGeom>
            <a:avLst/>
            <a:gdLst/>
            <a:ahLst/>
            <a:cxnLst/>
            <a:rect r="r" b="b" t="t" l="l"/>
            <a:pathLst>
              <a:path h="3714423" w="12079425">
                <a:moveTo>
                  <a:pt x="0" y="0"/>
                </a:moveTo>
                <a:lnTo>
                  <a:pt x="12079425" y="0"/>
                </a:lnTo>
                <a:lnTo>
                  <a:pt x="12079425" y="3714423"/>
                </a:lnTo>
                <a:lnTo>
                  <a:pt x="0" y="37144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-7538978">
            <a:off x="-5440356" y="7103091"/>
            <a:ext cx="11173096" cy="3435727"/>
          </a:xfrm>
          <a:custGeom>
            <a:avLst/>
            <a:gdLst/>
            <a:ahLst/>
            <a:cxnLst/>
            <a:rect r="r" b="b" t="t" l="l"/>
            <a:pathLst>
              <a:path h="3435727" w="11173096">
                <a:moveTo>
                  <a:pt x="0" y="0"/>
                </a:moveTo>
                <a:lnTo>
                  <a:pt x="11173096" y="0"/>
                </a:lnTo>
                <a:lnTo>
                  <a:pt x="11173096" y="3435727"/>
                </a:lnTo>
                <a:lnTo>
                  <a:pt x="0" y="343572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6406592" y="7894235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Ev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aluation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406592" y="8369596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compares options and seeks detailed product information.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908093" y="5341508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oy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alty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908093" y="5816869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repeats purchases and shares positive recommendations.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49798" y="7894235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Eng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agement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649798" y="8369596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receives onboarding and ongoing communication messages.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662799" y="815103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JOURN</a:t>
            </a: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EY TIMELINE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966565" y="1331358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Show 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the sequence of customer interactions across time periods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819798" y="2650654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Aw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areness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819798" y="3126015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 f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irst encounters the brand through marketing or referral sources.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084917" y="2650654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Pur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ch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ase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84917" y="3126015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 completes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transaction and begins using the product or service.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6984" y="5677988"/>
            <a:ext cx="15356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Day-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882512" y="5677988"/>
            <a:ext cx="15356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Day-7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533055" y="5677988"/>
            <a:ext cx="15356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Day-14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087556" y="5677988"/>
            <a:ext cx="15356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Day-30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547661" y="5677988"/>
            <a:ext cx="15356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Day-90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70111" y="1841174"/>
            <a:ext cx="25919369" cy="8229400"/>
          </a:xfrm>
          <a:custGeom>
            <a:avLst/>
            <a:gdLst/>
            <a:ahLst/>
            <a:cxnLst/>
            <a:rect r="r" b="b" t="t" l="l"/>
            <a:pathLst>
              <a:path h="8229400" w="25919369">
                <a:moveTo>
                  <a:pt x="0" y="0"/>
                </a:moveTo>
                <a:lnTo>
                  <a:pt x="25919369" y="0"/>
                </a:lnTo>
                <a:lnTo>
                  <a:pt x="25919369" y="8229399"/>
                </a:lnTo>
                <a:lnTo>
                  <a:pt x="0" y="8229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35470" y="7858702"/>
            <a:ext cx="5761343" cy="1399598"/>
          </a:xfrm>
          <a:custGeom>
            <a:avLst/>
            <a:gdLst/>
            <a:ahLst/>
            <a:cxnLst/>
            <a:rect r="r" b="b" t="t" l="l"/>
            <a:pathLst>
              <a:path h="1399598" w="5761343">
                <a:moveTo>
                  <a:pt x="0" y="0"/>
                </a:moveTo>
                <a:lnTo>
                  <a:pt x="5761343" y="0"/>
                </a:lnTo>
                <a:lnTo>
                  <a:pt x="5761343" y="1399598"/>
                </a:lnTo>
                <a:lnTo>
                  <a:pt x="0" y="1399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757" r="0" b="-71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35470" y="6297600"/>
            <a:ext cx="5761343" cy="2260901"/>
            <a:chOff x="0" y="0"/>
            <a:chExt cx="1189129" cy="4666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9129" cy="466645"/>
            </a:xfrm>
            <a:custGeom>
              <a:avLst/>
              <a:gdLst/>
              <a:ahLst/>
              <a:cxnLst/>
              <a:rect r="r" b="b" t="t" l="l"/>
              <a:pathLst>
                <a:path h="466645" w="1189129">
                  <a:moveTo>
                    <a:pt x="20157" y="0"/>
                  </a:moveTo>
                  <a:lnTo>
                    <a:pt x="1168973" y="0"/>
                  </a:lnTo>
                  <a:cubicBezTo>
                    <a:pt x="1174318" y="0"/>
                    <a:pt x="1179445" y="2124"/>
                    <a:pt x="1183225" y="5904"/>
                  </a:cubicBezTo>
                  <a:cubicBezTo>
                    <a:pt x="1187005" y="9684"/>
                    <a:pt x="1189129" y="14811"/>
                    <a:pt x="1189129" y="20157"/>
                  </a:cubicBezTo>
                  <a:lnTo>
                    <a:pt x="1189129" y="446489"/>
                  </a:lnTo>
                  <a:cubicBezTo>
                    <a:pt x="1189129" y="457621"/>
                    <a:pt x="1180105" y="466645"/>
                    <a:pt x="1168973" y="466645"/>
                  </a:cubicBezTo>
                  <a:lnTo>
                    <a:pt x="20157" y="466645"/>
                  </a:lnTo>
                  <a:cubicBezTo>
                    <a:pt x="14811" y="466645"/>
                    <a:pt x="9684" y="464522"/>
                    <a:pt x="5904" y="460742"/>
                  </a:cubicBezTo>
                  <a:cubicBezTo>
                    <a:pt x="2124" y="456961"/>
                    <a:pt x="0" y="451835"/>
                    <a:pt x="0" y="446489"/>
                  </a:cubicBezTo>
                  <a:lnTo>
                    <a:pt x="0" y="20157"/>
                  </a:lnTo>
                  <a:cubicBezTo>
                    <a:pt x="0" y="14811"/>
                    <a:pt x="2124" y="9684"/>
                    <a:pt x="5904" y="5904"/>
                  </a:cubicBezTo>
                  <a:cubicBezTo>
                    <a:pt x="9684" y="2124"/>
                    <a:pt x="14811" y="0"/>
                    <a:pt x="20157" y="0"/>
                  </a:cubicBezTo>
                  <a:close/>
                </a:path>
              </a:pathLst>
            </a:custGeom>
            <a:solidFill>
              <a:srgbClr val="EEF7FF"/>
            </a:solidFill>
            <a:ln w="47625" cap="sq">
              <a:solidFill>
                <a:srgbClr val="00AAB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89129" cy="504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5470" y="4015103"/>
            <a:ext cx="5761343" cy="2492055"/>
            <a:chOff x="0" y="0"/>
            <a:chExt cx="1189129" cy="5143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9129" cy="514355"/>
            </a:xfrm>
            <a:custGeom>
              <a:avLst/>
              <a:gdLst/>
              <a:ahLst/>
              <a:cxnLst/>
              <a:rect r="r" b="b" t="t" l="l"/>
              <a:pathLst>
                <a:path h="514355" w="1189129">
                  <a:moveTo>
                    <a:pt x="0" y="0"/>
                  </a:moveTo>
                  <a:lnTo>
                    <a:pt x="1189129" y="0"/>
                  </a:lnTo>
                  <a:lnTo>
                    <a:pt x="1189129" y="514355"/>
                  </a:lnTo>
                  <a:lnTo>
                    <a:pt x="0" y="514355"/>
                  </a:lnTo>
                  <a:close/>
                </a:path>
              </a:pathLst>
            </a:custGeom>
            <a:solidFill>
              <a:srgbClr val="EEF7FF"/>
            </a:solidFill>
            <a:ln w="47625" cap="sq">
              <a:solidFill>
                <a:srgbClr val="00AAB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89129" cy="552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5470" y="3574390"/>
            <a:ext cx="5761343" cy="881426"/>
            <a:chOff x="0" y="0"/>
            <a:chExt cx="1189129" cy="1819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9129" cy="181924"/>
            </a:xfrm>
            <a:custGeom>
              <a:avLst/>
              <a:gdLst/>
              <a:ahLst/>
              <a:cxnLst/>
              <a:rect r="r" b="b" t="t" l="l"/>
              <a:pathLst>
                <a:path h="181924" w="1189129">
                  <a:moveTo>
                    <a:pt x="20157" y="0"/>
                  </a:moveTo>
                  <a:lnTo>
                    <a:pt x="1168973" y="0"/>
                  </a:lnTo>
                  <a:cubicBezTo>
                    <a:pt x="1174318" y="0"/>
                    <a:pt x="1179445" y="2124"/>
                    <a:pt x="1183225" y="5904"/>
                  </a:cubicBezTo>
                  <a:cubicBezTo>
                    <a:pt x="1187005" y="9684"/>
                    <a:pt x="1189129" y="14811"/>
                    <a:pt x="1189129" y="20157"/>
                  </a:cubicBezTo>
                  <a:lnTo>
                    <a:pt x="1189129" y="161768"/>
                  </a:lnTo>
                  <a:cubicBezTo>
                    <a:pt x="1189129" y="172900"/>
                    <a:pt x="1180105" y="181924"/>
                    <a:pt x="1168973" y="181924"/>
                  </a:cubicBezTo>
                  <a:lnTo>
                    <a:pt x="20157" y="181924"/>
                  </a:lnTo>
                  <a:cubicBezTo>
                    <a:pt x="14811" y="181924"/>
                    <a:pt x="9684" y="179801"/>
                    <a:pt x="5904" y="176021"/>
                  </a:cubicBezTo>
                  <a:cubicBezTo>
                    <a:pt x="2124" y="172241"/>
                    <a:pt x="0" y="167114"/>
                    <a:pt x="0" y="161768"/>
                  </a:cubicBezTo>
                  <a:lnTo>
                    <a:pt x="0" y="20157"/>
                  </a:lnTo>
                  <a:cubicBezTo>
                    <a:pt x="0" y="14811"/>
                    <a:pt x="2124" y="9684"/>
                    <a:pt x="5904" y="5904"/>
                  </a:cubicBezTo>
                  <a:cubicBezTo>
                    <a:pt x="9684" y="2124"/>
                    <a:pt x="14811" y="0"/>
                    <a:pt x="20157" y="0"/>
                  </a:cubicBezTo>
                  <a:close/>
                </a:path>
              </a:pathLst>
            </a:custGeom>
            <a:solidFill>
              <a:srgbClr val="02B7C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9129" cy="220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593673" y="2729229"/>
            <a:ext cx="1722893" cy="1726587"/>
          </a:xfrm>
          <a:custGeom>
            <a:avLst/>
            <a:gdLst/>
            <a:ahLst/>
            <a:cxnLst/>
            <a:rect r="r" b="b" t="t" l="l"/>
            <a:pathLst>
              <a:path h="1726587" w="1722893">
                <a:moveTo>
                  <a:pt x="0" y="0"/>
                </a:moveTo>
                <a:lnTo>
                  <a:pt x="1722893" y="0"/>
                </a:lnTo>
                <a:lnTo>
                  <a:pt x="1722893" y="1726587"/>
                </a:lnTo>
                <a:lnTo>
                  <a:pt x="0" y="172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968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32984" y="7858702"/>
            <a:ext cx="5761343" cy="1399598"/>
          </a:xfrm>
          <a:custGeom>
            <a:avLst/>
            <a:gdLst/>
            <a:ahLst/>
            <a:cxnLst/>
            <a:rect r="r" b="b" t="t" l="l"/>
            <a:pathLst>
              <a:path h="1399598" w="5761343">
                <a:moveTo>
                  <a:pt x="0" y="0"/>
                </a:moveTo>
                <a:lnTo>
                  <a:pt x="5761343" y="0"/>
                </a:lnTo>
                <a:lnTo>
                  <a:pt x="5761343" y="1399598"/>
                </a:lnTo>
                <a:lnTo>
                  <a:pt x="0" y="1399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757" r="0" b="-71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932984" y="5855262"/>
            <a:ext cx="5761343" cy="2703239"/>
            <a:chOff x="0" y="0"/>
            <a:chExt cx="1189129" cy="5579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9129" cy="557943"/>
            </a:xfrm>
            <a:custGeom>
              <a:avLst/>
              <a:gdLst/>
              <a:ahLst/>
              <a:cxnLst/>
              <a:rect r="r" b="b" t="t" l="l"/>
              <a:pathLst>
                <a:path h="557943" w="1189129">
                  <a:moveTo>
                    <a:pt x="20157" y="0"/>
                  </a:moveTo>
                  <a:lnTo>
                    <a:pt x="1168973" y="0"/>
                  </a:lnTo>
                  <a:cubicBezTo>
                    <a:pt x="1174318" y="0"/>
                    <a:pt x="1179445" y="2124"/>
                    <a:pt x="1183225" y="5904"/>
                  </a:cubicBezTo>
                  <a:cubicBezTo>
                    <a:pt x="1187005" y="9684"/>
                    <a:pt x="1189129" y="14811"/>
                    <a:pt x="1189129" y="20157"/>
                  </a:cubicBezTo>
                  <a:lnTo>
                    <a:pt x="1189129" y="537786"/>
                  </a:lnTo>
                  <a:cubicBezTo>
                    <a:pt x="1189129" y="543132"/>
                    <a:pt x="1187005" y="548259"/>
                    <a:pt x="1183225" y="552039"/>
                  </a:cubicBezTo>
                  <a:cubicBezTo>
                    <a:pt x="1179445" y="555819"/>
                    <a:pt x="1174318" y="557943"/>
                    <a:pt x="1168973" y="557943"/>
                  </a:cubicBezTo>
                  <a:lnTo>
                    <a:pt x="20157" y="557943"/>
                  </a:lnTo>
                  <a:cubicBezTo>
                    <a:pt x="14811" y="557943"/>
                    <a:pt x="9684" y="555819"/>
                    <a:pt x="5904" y="552039"/>
                  </a:cubicBezTo>
                  <a:cubicBezTo>
                    <a:pt x="2124" y="548259"/>
                    <a:pt x="0" y="543132"/>
                    <a:pt x="0" y="537786"/>
                  </a:cubicBezTo>
                  <a:lnTo>
                    <a:pt x="0" y="20157"/>
                  </a:lnTo>
                  <a:cubicBezTo>
                    <a:pt x="0" y="14811"/>
                    <a:pt x="2124" y="9684"/>
                    <a:pt x="5904" y="5904"/>
                  </a:cubicBezTo>
                  <a:cubicBezTo>
                    <a:pt x="9684" y="2124"/>
                    <a:pt x="14811" y="0"/>
                    <a:pt x="20157" y="0"/>
                  </a:cubicBezTo>
                  <a:close/>
                </a:path>
              </a:pathLst>
            </a:custGeom>
            <a:solidFill>
              <a:srgbClr val="EEF7FF"/>
            </a:solidFill>
            <a:ln w="476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89129" cy="596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32984" y="4144972"/>
            <a:ext cx="5761343" cy="2362186"/>
            <a:chOff x="0" y="0"/>
            <a:chExt cx="1189129" cy="487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9129" cy="487550"/>
            </a:xfrm>
            <a:custGeom>
              <a:avLst/>
              <a:gdLst/>
              <a:ahLst/>
              <a:cxnLst/>
              <a:rect r="r" b="b" t="t" l="l"/>
              <a:pathLst>
                <a:path h="487550" w="1189129">
                  <a:moveTo>
                    <a:pt x="0" y="0"/>
                  </a:moveTo>
                  <a:lnTo>
                    <a:pt x="1189129" y="0"/>
                  </a:lnTo>
                  <a:lnTo>
                    <a:pt x="1189129" y="487550"/>
                  </a:lnTo>
                  <a:lnTo>
                    <a:pt x="0" y="487550"/>
                  </a:lnTo>
                  <a:close/>
                </a:path>
              </a:pathLst>
            </a:custGeom>
            <a:solidFill>
              <a:srgbClr val="EEF7FF"/>
            </a:solidFill>
            <a:ln w="476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89129" cy="52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32984" y="3574390"/>
            <a:ext cx="5761343" cy="881426"/>
            <a:chOff x="0" y="0"/>
            <a:chExt cx="1189129" cy="1819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9129" cy="181924"/>
            </a:xfrm>
            <a:custGeom>
              <a:avLst/>
              <a:gdLst/>
              <a:ahLst/>
              <a:cxnLst/>
              <a:rect r="r" b="b" t="t" l="l"/>
              <a:pathLst>
                <a:path h="181924" w="1189129">
                  <a:moveTo>
                    <a:pt x="20157" y="0"/>
                  </a:moveTo>
                  <a:lnTo>
                    <a:pt x="1168973" y="0"/>
                  </a:lnTo>
                  <a:cubicBezTo>
                    <a:pt x="1174318" y="0"/>
                    <a:pt x="1179445" y="2124"/>
                    <a:pt x="1183225" y="5904"/>
                  </a:cubicBezTo>
                  <a:cubicBezTo>
                    <a:pt x="1187005" y="9684"/>
                    <a:pt x="1189129" y="14811"/>
                    <a:pt x="1189129" y="20157"/>
                  </a:cubicBezTo>
                  <a:lnTo>
                    <a:pt x="1189129" y="161768"/>
                  </a:lnTo>
                  <a:cubicBezTo>
                    <a:pt x="1189129" y="172900"/>
                    <a:pt x="1180105" y="181924"/>
                    <a:pt x="1168973" y="181924"/>
                  </a:cubicBezTo>
                  <a:lnTo>
                    <a:pt x="20157" y="181924"/>
                  </a:lnTo>
                  <a:cubicBezTo>
                    <a:pt x="14811" y="181924"/>
                    <a:pt x="9684" y="179801"/>
                    <a:pt x="5904" y="176021"/>
                  </a:cubicBezTo>
                  <a:cubicBezTo>
                    <a:pt x="2124" y="172241"/>
                    <a:pt x="0" y="167114"/>
                    <a:pt x="0" y="161768"/>
                  </a:cubicBezTo>
                  <a:lnTo>
                    <a:pt x="0" y="20157"/>
                  </a:lnTo>
                  <a:cubicBezTo>
                    <a:pt x="0" y="14811"/>
                    <a:pt x="2124" y="9684"/>
                    <a:pt x="5904" y="5904"/>
                  </a:cubicBezTo>
                  <a:cubicBezTo>
                    <a:pt x="9684" y="2124"/>
                    <a:pt x="14811" y="0"/>
                    <a:pt x="2015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89129" cy="220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91187" y="2729229"/>
            <a:ext cx="1722893" cy="1726587"/>
          </a:xfrm>
          <a:custGeom>
            <a:avLst/>
            <a:gdLst/>
            <a:ahLst/>
            <a:cxnLst/>
            <a:rect r="r" b="b" t="t" l="l"/>
            <a:pathLst>
              <a:path h="1726587" w="1722893">
                <a:moveTo>
                  <a:pt x="0" y="0"/>
                </a:moveTo>
                <a:lnTo>
                  <a:pt x="1722893" y="0"/>
                </a:lnTo>
                <a:lnTo>
                  <a:pt x="1722893" y="1726587"/>
                </a:lnTo>
                <a:lnTo>
                  <a:pt x="0" y="17265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9683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07829" y="3211522"/>
            <a:ext cx="689610" cy="762000"/>
          </a:xfrm>
          <a:custGeom>
            <a:avLst/>
            <a:gdLst/>
            <a:ahLst/>
            <a:cxnLst/>
            <a:rect r="r" b="b" t="t" l="l"/>
            <a:pathLst>
              <a:path h="762000" w="689610">
                <a:moveTo>
                  <a:pt x="0" y="0"/>
                </a:moveTo>
                <a:lnTo>
                  <a:pt x="689610" y="0"/>
                </a:lnTo>
                <a:lnTo>
                  <a:pt x="68961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076977" y="3193390"/>
            <a:ext cx="756285" cy="762000"/>
          </a:xfrm>
          <a:custGeom>
            <a:avLst/>
            <a:gdLst/>
            <a:ahLst/>
            <a:cxnLst/>
            <a:rect r="r" b="b" t="t" l="l"/>
            <a:pathLst>
              <a:path h="762000" w="756285">
                <a:moveTo>
                  <a:pt x="0" y="0"/>
                </a:moveTo>
                <a:lnTo>
                  <a:pt x="756285" y="0"/>
                </a:lnTo>
                <a:lnTo>
                  <a:pt x="75628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371854" y="5100487"/>
            <a:ext cx="882200" cy="762000"/>
          </a:xfrm>
          <a:custGeom>
            <a:avLst/>
            <a:gdLst/>
            <a:ahLst/>
            <a:cxnLst/>
            <a:rect r="r" b="b" t="t" l="l"/>
            <a:pathLst>
              <a:path h="762000" w="882200">
                <a:moveTo>
                  <a:pt x="0" y="0"/>
                </a:moveTo>
                <a:lnTo>
                  <a:pt x="882200" y="0"/>
                </a:lnTo>
                <a:lnTo>
                  <a:pt x="882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333709" y="7151830"/>
            <a:ext cx="958491" cy="762000"/>
          </a:xfrm>
          <a:custGeom>
            <a:avLst/>
            <a:gdLst/>
            <a:ahLst/>
            <a:cxnLst/>
            <a:rect r="r" b="b" t="t" l="l"/>
            <a:pathLst>
              <a:path h="762000" w="958491">
                <a:moveTo>
                  <a:pt x="0" y="0"/>
                </a:moveTo>
                <a:lnTo>
                  <a:pt x="958491" y="0"/>
                </a:lnTo>
                <a:lnTo>
                  <a:pt x="95849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77532" y="7151830"/>
            <a:ext cx="830518" cy="762000"/>
          </a:xfrm>
          <a:custGeom>
            <a:avLst/>
            <a:gdLst/>
            <a:ahLst/>
            <a:cxnLst/>
            <a:rect r="r" b="b" t="t" l="l"/>
            <a:pathLst>
              <a:path h="762000" w="830518">
                <a:moveTo>
                  <a:pt x="0" y="0"/>
                </a:moveTo>
                <a:lnTo>
                  <a:pt x="830518" y="0"/>
                </a:lnTo>
                <a:lnTo>
                  <a:pt x="8305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191739" y="5100487"/>
            <a:ext cx="802105" cy="762000"/>
          </a:xfrm>
          <a:custGeom>
            <a:avLst/>
            <a:gdLst/>
            <a:ahLst/>
            <a:cxnLst/>
            <a:rect r="r" b="b" t="t" l="l"/>
            <a:pathLst>
              <a:path h="762000" w="802105">
                <a:moveTo>
                  <a:pt x="0" y="0"/>
                </a:moveTo>
                <a:lnTo>
                  <a:pt x="802105" y="0"/>
                </a:lnTo>
                <a:lnTo>
                  <a:pt x="80210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316211" y="4914876"/>
            <a:ext cx="37708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Improv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 Response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16211" y="5379443"/>
            <a:ext cx="377083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Us</a:t>
            </a: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 faster communication tools to resolve issues quickly.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16211" y="6809056"/>
            <a:ext cx="37708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implify Checkout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16211" y="7273623"/>
            <a:ext cx="377083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treamline forms and payment options to improve completion rates.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02316" y="3788408"/>
            <a:ext cx="40276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577261" y="4757714"/>
            <a:ext cx="3707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Slow R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esponse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77261" y="5222281"/>
            <a:ext cx="3707301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Delayed supp</a:t>
            </a: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ort reduces trust and increases frustration during interactions.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77261" y="6809056"/>
            <a:ext cx="37073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Compl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ex Checkout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77261" y="7273623"/>
            <a:ext cx="3707301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8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omplicated payment steps reduce conversion rates and increase abandonment.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03384" y="3788408"/>
            <a:ext cx="402054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PAIN POINTS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62799" y="1055458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PAIN POINT</a:t>
            </a: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ANALYSIS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966565" y="1675764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Highlight common obstacles 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that reduce satisfaction and retention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952286" y="3279432"/>
            <a:ext cx="742249" cy="0"/>
          </a:xfrm>
          <a:prstGeom prst="line">
            <a:avLst/>
          </a:prstGeom>
          <a:ln cap="flat" w="38100">
            <a:solidFill>
              <a:srgbClr val="00C6DD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3" id="3"/>
          <p:cNvSpPr/>
          <p:nvPr/>
        </p:nvSpPr>
        <p:spPr>
          <a:xfrm>
            <a:off x="1743075" y="6332553"/>
            <a:ext cx="714375" cy="3273590"/>
          </a:xfrm>
          <a:custGeom>
            <a:avLst/>
            <a:gdLst/>
            <a:ahLst/>
            <a:cxnLst/>
            <a:rect r="r" b="b" t="t" l="l"/>
            <a:pathLst>
              <a:path h="3273590" w="714375">
                <a:moveTo>
                  <a:pt x="714375" y="3273591"/>
                </a:moveTo>
                <a:lnTo>
                  <a:pt x="228600" y="3273591"/>
                </a:lnTo>
                <a:cubicBezTo>
                  <a:pt x="102348" y="3273591"/>
                  <a:pt x="0" y="3171243"/>
                  <a:pt x="0" y="3044991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8FD0BB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3755719" y="4514622"/>
            <a:ext cx="12019629" cy="13795843"/>
          </a:xfrm>
          <a:custGeom>
            <a:avLst/>
            <a:gdLst/>
            <a:ahLst/>
            <a:cxnLst/>
            <a:rect r="r" b="b" t="t" l="l"/>
            <a:pathLst>
              <a:path h="13795843" w="12019629">
                <a:moveTo>
                  <a:pt x="0" y="0"/>
                </a:moveTo>
                <a:lnTo>
                  <a:pt x="12019629" y="0"/>
                </a:lnTo>
                <a:lnTo>
                  <a:pt x="12019629" y="13795843"/>
                </a:lnTo>
                <a:lnTo>
                  <a:pt x="0" y="13795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2013681" y="5528269"/>
            <a:ext cx="742249" cy="0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3455657" y="8105941"/>
            <a:ext cx="742249" cy="0"/>
          </a:xfrm>
          <a:prstGeom prst="line">
            <a:avLst/>
          </a:prstGeom>
          <a:ln cap="flat" w="38100">
            <a:solidFill>
              <a:srgbClr val="6D96CE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884158" y="5748024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755930" y="4693365"/>
            <a:ext cx="3061394" cy="1669807"/>
            <a:chOff x="0" y="0"/>
            <a:chExt cx="806293" cy="439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17018" y="4813894"/>
            <a:ext cx="1428750" cy="14287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822764" y="3499187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7" y="0"/>
                </a:lnTo>
                <a:lnTo>
                  <a:pt x="2804937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694535" y="2444529"/>
            <a:ext cx="3061394" cy="1669807"/>
            <a:chOff x="0" y="0"/>
            <a:chExt cx="806293" cy="4397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55624" y="2565057"/>
            <a:ext cx="1428750" cy="14287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995840" y="5476925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V="true">
            <a:off x="2125363" y="5257170"/>
            <a:ext cx="742249" cy="0"/>
          </a:xfrm>
          <a:prstGeom prst="line">
            <a:avLst/>
          </a:prstGeom>
          <a:ln cap="flat" w="38100">
            <a:solidFill>
              <a:srgbClr val="6CFACD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2867612" y="4422266"/>
            <a:ext cx="3061394" cy="1669807"/>
            <a:chOff x="0" y="0"/>
            <a:chExt cx="806293" cy="4397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4542795"/>
            <a:ext cx="1428750" cy="142875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326134" y="8325695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197906" y="7271037"/>
            <a:ext cx="3061394" cy="1669807"/>
            <a:chOff x="0" y="0"/>
            <a:chExt cx="806293" cy="4397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58994" y="7391566"/>
            <a:ext cx="1428750" cy="142875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D96CE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484612" y="4889905"/>
            <a:ext cx="516925" cy="734530"/>
          </a:xfrm>
          <a:custGeom>
            <a:avLst/>
            <a:gdLst/>
            <a:ahLst/>
            <a:cxnLst/>
            <a:rect r="r" b="b" t="t" l="l"/>
            <a:pathLst>
              <a:path h="734530" w="516925">
                <a:moveTo>
                  <a:pt x="0" y="0"/>
                </a:moveTo>
                <a:lnTo>
                  <a:pt x="516926" y="0"/>
                </a:lnTo>
                <a:lnTo>
                  <a:pt x="516926" y="734530"/>
                </a:lnTo>
                <a:lnTo>
                  <a:pt x="0" y="734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093749" y="2939509"/>
            <a:ext cx="952500" cy="679847"/>
          </a:xfrm>
          <a:custGeom>
            <a:avLst/>
            <a:gdLst/>
            <a:ahLst/>
            <a:cxnLst/>
            <a:rect r="r" b="b" t="t" l="l"/>
            <a:pathLst>
              <a:path h="679847" w="952500">
                <a:moveTo>
                  <a:pt x="0" y="0"/>
                </a:moveTo>
                <a:lnTo>
                  <a:pt x="952500" y="0"/>
                </a:lnTo>
                <a:lnTo>
                  <a:pt x="952500" y="679846"/>
                </a:lnTo>
                <a:lnTo>
                  <a:pt x="0" y="6798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291172" y="5099644"/>
            <a:ext cx="680442" cy="857250"/>
          </a:xfrm>
          <a:custGeom>
            <a:avLst/>
            <a:gdLst/>
            <a:ahLst/>
            <a:cxnLst/>
            <a:rect r="r" b="b" t="t" l="l"/>
            <a:pathLst>
              <a:path h="857250" w="680442">
                <a:moveTo>
                  <a:pt x="0" y="0"/>
                </a:moveTo>
                <a:lnTo>
                  <a:pt x="680442" y="0"/>
                </a:lnTo>
                <a:lnTo>
                  <a:pt x="68044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644744" y="7805903"/>
            <a:ext cx="857250" cy="600075"/>
          </a:xfrm>
          <a:custGeom>
            <a:avLst/>
            <a:gdLst/>
            <a:ahLst/>
            <a:cxnLst/>
            <a:rect r="r" b="b" t="t" l="l"/>
            <a:pathLst>
              <a:path h="600075" w="857250">
                <a:moveTo>
                  <a:pt x="0" y="0"/>
                </a:moveTo>
                <a:lnTo>
                  <a:pt x="857250" y="0"/>
                </a:lnTo>
                <a:lnTo>
                  <a:pt x="857250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>
            <a:off x="11291172" y="9062856"/>
            <a:ext cx="1782197" cy="543288"/>
          </a:xfrm>
          <a:custGeom>
            <a:avLst/>
            <a:gdLst/>
            <a:ahLst/>
            <a:cxnLst/>
            <a:rect r="r" b="b" t="t" l="l"/>
            <a:pathLst>
              <a:path h="543288" w="1782197">
                <a:moveTo>
                  <a:pt x="0" y="543288"/>
                </a:moveTo>
                <a:lnTo>
                  <a:pt x="1553597" y="543288"/>
                </a:lnTo>
                <a:cubicBezTo>
                  <a:pt x="1679849" y="543288"/>
                  <a:pt x="1782197" y="440940"/>
                  <a:pt x="1782197" y="314688"/>
                </a:cubicBezTo>
                <a:lnTo>
                  <a:pt x="1782197" y="0"/>
                </a:lnTo>
              </a:path>
            </a:pathLst>
          </a:custGeom>
          <a:ln cap="flat" w="38100">
            <a:solidFill>
              <a:srgbClr val="6D96CE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41" id="41"/>
          <p:cNvSpPr/>
          <p:nvPr/>
        </p:nvSpPr>
        <p:spPr>
          <a:xfrm>
            <a:off x="6869058" y="3292448"/>
            <a:ext cx="539164" cy="2110282"/>
          </a:xfrm>
          <a:custGeom>
            <a:avLst/>
            <a:gdLst/>
            <a:ahLst/>
            <a:cxnLst/>
            <a:rect r="r" b="b" t="t" l="l"/>
            <a:pathLst>
              <a:path h="2110282" w="539164">
                <a:moveTo>
                  <a:pt x="0" y="2110282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539164" y="0"/>
                </a:lnTo>
              </a:path>
            </a:pathLst>
          </a:custGeom>
          <a:ln cap="flat" w="38100">
            <a:solidFill>
              <a:srgbClr val="00C6DD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42" id="42"/>
          <p:cNvSpPr/>
          <p:nvPr/>
        </p:nvSpPr>
        <p:spPr>
          <a:xfrm>
            <a:off x="9369510" y="5624435"/>
            <a:ext cx="1305813" cy="866812"/>
          </a:xfrm>
          <a:custGeom>
            <a:avLst/>
            <a:gdLst/>
            <a:ahLst/>
            <a:cxnLst/>
            <a:rect r="r" b="b" t="t" l="l"/>
            <a:pathLst>
              <a:path h="866812" w="1305813">
                <a:moveTo>
                  <a:pt x="0" y="866812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1305814" y="0"/>
                </a:lnTo>
              </a:path>
            </a:pathLst>
          </a:custGeom>
          <a:ln cap="flat" w="38100">
            <a:solidFill>
              <a:srgbClr val="004AAD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43" id="43"/>
          <p:cNvSpPr/>
          <p:nvPr/>
        </p:nvSpPr>
        <p:spPr>
          <a:xfrm flipH="false" flipV="false" rot="8372452">
            <a:off x="-6868222" y="1373614"/>
            <a:ext cx="10248976" cy="2382887"/>
          </a:xfrm>
          <a:custGeom>
            <a:avLst/>
            <a:gdLst/>
            <a:ahLst/>
            <a:cxnLst/>
            <a:rect r="r" b="b" t="t" l="l"/>
            <a:pathLst>
              <a:path h="2382887" w="10248976">
                <a:moveTo>
                  <a:pt x="0" y="0"/>
                </a:moveTo>
                <a:lnTo>
                  <a:pt x="10248976" y="0"/>
                </a:lnTo>
                <a:lnTo>
                  <a:pt x="10248976" y="2382886"/>
                </a:lnTo>
                <a:lnTo>
                  <a:pt x="0" y="23828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-7815044">
            <a:off x="12169325" y="-1550518"/>
            <a:ext cx="10248976" cy="2382887"/>
          </a:xfrm>
          <a:custGeom>
            <a:avLst/>
            <a:gdLst/>
            <a:ahLst/>
            <a:cxnLst/>
            <a:rect r="r" b="b" t="t" l="l"/>
            <a:pathLst>
              <a:path h="2382887" w="10248976">
                <a:moveTo>
                  <a:pt x="0" y="0"/>
                </a:moveTo>
                <a:lnTo>
                  <a:pt x="10248975" y="0"/>
                </a:lnTo>
                <a:lnTo>
                  <a:pt x="10248975" y="2382887"/>
                </a:lnTo>
                <a:lnTo>
                  <a:pt x="0" y="23828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5662799" y="815103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EMOTION</a:t>
            </a: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MAPPING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966565" y="1435409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Visualize how customer feelings c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hange across journey stages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985488" y="489879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Excitem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ent Phase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85488" y="5374154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feel po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sitive during purchase and onboarding interactions.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24094" y="2649957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Confid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ence Phase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24094" y="3125318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f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eel assured after comparing options and reading reviews.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097170" y="4627694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Cu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riosity Phase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097170" y="5103055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Customers feel 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interested and explore available information sources.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427464" y="7476465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Satisf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action Phase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427464" y="7951826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 feel pleased when product meets expectations consistently.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695641" y="7076288"/>
            <a:ext cx="1182233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3F93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048617" y="5927366"/>
            <a:ext cx="1182233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93091" y="7023528"/>
            <a:ext cx="1182233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84207" y="8753641"/>
            <a:ext cx="1182233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2620" y="465891"/>
            <a:ext cx="17302760" cy="9292470"/>
            <a:chOff x="0" y="0"/>
            <a:chExt cx="4557105" cy="2447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7106" cy="2447399"/>
            </a:xfrm>
            <a:custGeom>
              <a:avLst/>
              <a:gdLst/>
              <a:ahLst/>
              <a:cxnLst/>
              <a:rect r="r" b="b" t="t" l="l"/>
              <a:pathLst>
                <a:path h="2447399" w="4557106">
                  <a:moveTo>
                    <a:pt x="14318" y="0"/>
                  </a:moveTo>
                  <a:lnTo>
                    <a:pt x="4542787" y="0"/>
                  </a:lnTo>
                  <a:cubicBezTo>
                    <a:pt x="4550695" y="0"/>
                    <a:pt x="4557106" y="6410"/>
                    <a:pt x="4557106" y="14318"/>
                  </a:cubicBezTo>
                  <a:lnTo>
                    <a:pt x="4557106" y="2433082"/>
                  </a:lnTo>
                  <a:cubicBezTo>
                    <a:pt x="4557106" y="2440989"/>
                    <a:pt x="4550695" y="2447399"/>
                    <a:pt x="4542787" y="2447399"/>
                  </a:cubicBezTo>
                  <a:lnTo>
                    <a:pt x="14318" y="2447399"/>
                  </a:lnTo>
                  <a:cubicBezTo>
                    <a:pt x="10521" y="2447399"/>
                    <a:pt x="6879" y="2445891"/>
                    <a:pt x="4194" y="2443206"/>
                  </a:cubicBezTo>
                  <a:cubicBezTo>
                    <a:pt x="1509" y="2440521"/>
                    <a:pt x="0" y="2436879"/>
                    <a:pt x="0" y="2433082"/>
                  </a:cubicBezTo>
                  <a:lnTo>
                    <a:pt x="0" y="14318"/>
                  </a:lnTo>
                  <a:cubicBezTo>
                    <a:pt x="0" y="10521"/>
                    <a:pt x="1509" y="6879"/>
                    <a:pt x="4194" y="4194"/>
                  </a:cubicBezTo>
                  <a:cubicBezTo>
                    <a:pt x="6879" y="1509"/>
                    <a:pt x="10521" y="0"/>
                    <a:pt x="14318" y="0"/>
                  </a:cubicBezTo>
                  <a:close/>
                </a:path>
              </a:pathLst>
            </a:custGeom>
            <a:solidFill>
              <a:srgbClr val="EEF7FF">
                <a:alpha val="5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57105" cy="2485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586007" y="10376811"/>
            <a:ext cx="5943775" cy="3402811"/>
          </a:xfrm>
          <a:custGeom>
            <a:avLst/>
            <a:gdLst/>
            <a:ahLst/>
            <a:cxnLst/>
            <a:rect r="r" b="b" t="t" l="l"/>
            <a:pathLst>
              <a:path h="3402811" w="5943775">
                <a:moveTo>
                  <a:pt x="0" y="0"/>
                </a:moveTo>
                <a:lnTo>
                  <a:pt x="5943775" y="0"/>
                </a:lnTo>
                <a:lnTo>
                  <a:pt x="5943775" y="3402811"/>
                </a:lnTo>
                <a:lnTo>
                  <a:pt x="0" y="3402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5557895" y="7481645"/>
            <a:ext cx="0" cy="1253198"/>
          </a:xfrm>
          <a:prstGeom prst="line">
            <a:avLst/>
          </a:prstGeom>
          <a:ln cap="flat" w="38100">
            <a:solidFill>
              <a:srgbClr val="7DCFB5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843520" y="6034650"/>
            <a:ext cx="1428750" cy="142875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A9F7D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9618668" y="10084730"/>
            <a:ext cx="6315261" cy="3615487"/>
          </a:xfrm>
          <a:custGeom>
            <a:avLst/>
            <a:gdLst/>
            <a:ahLst/>
            <a:cxnLst/>
            <a:rect r="r" b="b" t="t" l="l"/>
            <a:pathLst>
              <a:path h="3615487" w="6315261">
                <a:moveTo>
                  <a:pt x="0" y="0"/>
                </a:moveTo>
                <a:lnTo>
                  <a:pt x="6315261" y="0"/>
                </a:lnTo>
                <a:lnTo>
                  <a:pt x="6315261" y="3615487"/>
                </a:lnTo>
                <a:lnTo>
                  <a:pt x="0" y="3615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12776299" y="7177650"/>
            <a:ext cx="0" cy="1271443"/>
          </a:xfrm>
          <a:prstGeom prst="line">
            <a:avLst/>
          </a:prstGeom>
          <a:ln cap="flat" w="38100">
            <a:solidFill>
              <a:srgbClr val="46C89F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2061924" y="5748900"/>
            <a:ext cx="1428750" cy="14287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6438654" y="9792649"/>
            <a:ext cx="6686746" cy="3828162"/>
          </a:xfrm>
          <a:custGeom>
            <a:avLst/>
            <a:gdLst/>
            <a:ahLst/>
            <a:cxnLst/>
            <a:rect r="r" b="b" t="t" l="l"/>
            <a:pathLst>
              <a:path h="3828162" w="6686746">
                <a:moveTo>
                  <a:pt x="0" y="0"/>
                </a:moveTo>
                <a:lnTo>
                  <a:pt x="6686746" y="0"/>
                </a:lnTo>
                <a:lnTo>
                  <a:pt x="6686746" y="3828162"/>
                </a:lnTo>
                <a:lnTo>
                  <a:pt x="0" y="3828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9782027" y="6864916"/>
            <a:ext cx="0" cy="1271443"/>
          </a:xfrm>
          <a:prstGeom prst="line">
            <a:avLst/>
          </a:prstGeom>
          <a:ln cap="flat" w="38100">
            <a:solidFill>
              <a:srgbClr val="00C6DD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067652" y="5436166"/>
            <a:ext cx="1428750" cy="14287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400000">
            <a:off x="3045964" y="9500568"/>
            <a:ext cx="7058232" cy="4040838"/>
          </a:xfrm>
          <a:custGeom>
            <a:avLst/>
            <a:gdLst/>
            <a:ahLst/>
            <a:cxnLst/>
            <a:rect r="r" b="b" t="t" l="l"/>
            <a:pathLst>
              <a:path h="4040838" w="7058232">
                <a:moveTo>
                  <a:pt x="0" y="0"/>
                </a:moveTo>
                <a:lnTo>
                  <a:pt x="7058232" y="0"/>
                </a:lnTo>
                <a:lnTo>
                  <a:pt x="7058232" y="4040838"/>
                </a:lnTo>
                <a:lnTo>
                  <a:pt x="0" y="4040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V="true">
            <a:off x="6575080" y="6548560"/>
            <a:ext cx="0" cy="1271443"/>
          </a:xfrm>
          <a:prstGeom prst="line">
            <a:avLst/>
          </a:prstGeom>
          <a:ln cap="flat" w="38100">
            <a:solidFill>
              <a:srgbClr val="008CDA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5860705" y="5119810"/>
            <a:ext cx="1428750" cy="14287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8C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400000">
            <a:off x="-559402" y="9208487"/>
            <a:ext cx="7429718" cy="4253514"/>
          </a:xfrm>
          <a:custGeom>
            <a:avLst/>
            <a:gdLst/>
            <a:ahLst/>
            <a:cxnLst/>
            <a:rect r="r" b="b" t="t" l="l"/>
            <a:pathLst>
              <a:path h="4253514" w="7429718">
                <a:moveTo>
                  <a:pt x="0" y="0"/>
                </a:moveTo>
                <a:lnTo>
                  <a:pt x="7429718" y="0"/>
                </a:lnTo>
                <a:lnTo>
                  <a:pt x="7429718" y="4253514"/>
                </a:lnTo>
                <a:lnTo>
                  <a:pt x="0" y="4253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 flipV="true">
            <a:off x="3155457" y="6210202"/>
            <a:ext cx="0" cy="1271443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oval" len="lg" w="lg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2441082" y="4781452"/>
            <a:ext cx="1428750" cy="142875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730352" y="5114827"/>
            <a:ext cx="850209" cy="762000"/>
          </a:xfrm>
          <a:custGeom>
            <a:avLst/>
            <a:gdLst/>
            <a:ahLst/>
            <a:cxnLst/>
            <a:rect r="r" b="b" t="t" l="l"/>
            <a:pathLst>
              <a:path h="762000" w="850209">
                <a:moveTo>
                  <a:pt x="0" y="0"/>
                </a:moveTo>
                <a:lnTo>
                  <a:pt x="850209" y="0"/>
                </a:lnTo>
                <a:lnTo>
                  <a:pt x="850209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156973" y="5453185"/>
            <a:ext cx="836214" cy="762000"/>
          </a:xfrm>
          <a:custGeom>
            <a:avLst/>
            <a:gdLst/>
            <a:ahLst/>
            <a:cxnLst/>
            <a:rect r="r" b="b" t="t" l="l"/>
            <a:pathLst>
              <a:path h="762000" w="836214">
                <a:moveTo>
                  <a:pt x="0" y="0"/>
                </a:moveTo>
                <a:lnTo>
                  <a:pt x="836214" y="0"/>
                </a:lnTo>
                <a:lnTo>
                  <a:pt x="83621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462166" y="5721916"/>
            <a:ext cx="639723" cy="857250"/>
          </a:xfrm>
          <a:custGeom>
            <a:avLst/>
            <a:gdLst/>
            <a:ahLst/>
            <a:cxnLst/>
            <a:rect r="r" b="b" t="t" l="l"/>
            <a:pathLst>
              <a:path h="857250" w="639723">
                <a:moveTo>
                  <a:pt x="0" y="0"/>
                </a:moveTo>
                <a:lnTo>
                  <a:pt x="639722" y="0"/>
                </a:lnTo>
                <a:lnTo>
                  <a:pt x="63972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383515" y="6082275"/>
            <a:ext cx="785567" cy="762000"/>
          </a:xfrm>
          <a:custGeom>
            <a:avLst/>
            <a:gdLst/>
            <a:ahLst/>
            <a:cxnLst/>
            <a:rect r="r" b="b" t="t" l="l"/>
            <a:pathLst>
              <a:path h="762000" w="785567">
                <a:moveTo>
                  <a:pt x="0" y="0"/>
                </a:moveTo>
                <a:lnTo>
                  <a:pt x="785567" y="0"/>
                </a:lnTo>
                <a:lnTo>
                  <a:pt x="78556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129270" y="6452738"/>
            <a:ext cx="857250" cy="592574"/>
          </a:xfrm>
          <a:custGeom>
            <a:avLst/>
            <a:gdLst/>
            <a:ahLst/>
            <a:cxnLst/>
            <a:rect r="r" b="b" t="t" l="l"/>
            <a:pathLst>
              <a:path h="592574" w="857250">
                <a:moveTo>
                  <a:pt x="0" y="0"/>
                </a:moveTo>
                <a:lnTo>
                  <a:pt x="857250" y="0"/>
                </a:lnTo>
                <a:lnTo>
                  <a:pt x="857250" y="592574"/>
                </a:lnTo>
                <a:lnTo>
                  <a:pt x="0" y="5925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3037502" y="2170328"/>
            <a:ext cx="209642" cy="243947"/>
            <a:chOff x="0" y="0"/>
            <a:chExt cx="6985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70259" y="2634520"/>
            <a:ext cx="209642" cy="243947"/>
            <a:chOff x="0" y="0"/>
            <a:chExt cx="6985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8CD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77206" y="2883362"/>
            <a:ext cx="209642" cy="243947"/>
            <a:chOff x="0" y="0"/>
            <a:chExt cx="6985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AAB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402677" y="3916293"/>
            <a:ext cx="231043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Ongoing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81565" y="4604951"/>
            <a:ext cx="1752658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Mai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ntain responsive assistance throughout the customer lifecycle.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21081" y="3630543"/>
            <a:ext cx="231043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ty Buildin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02357" y="4319201"/>
            <a:ext cx="1947884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Create s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pac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es for customers to share experiences and feedback.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626809" y="3317809"/>
            <a:ext cx="231043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Rew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ard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76423" y="4006467"/>
            <a:ext cx="1811208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Off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 incentives for repeat purchases and long term engagement.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19862" y="3001453"/>
            <a:ext cx="231043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Person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alized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Offers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56800" y="3690111"/>
            <a:ext cx="2236559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eliver tailo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red recommendations based on customer preferences and behavior.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00239" y="2663095"/>
            <a:ext cx="231043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Quali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ty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elivery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92011" y="3351753"/>
            <a:ext cx="1726893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Prov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ide consistent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 product or service quality across all interactions.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662799" y="919154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JOURNEY</a:t>
            </a: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OVERVIEW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66565" y="1435409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Show the main stages from first co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ntact to loyal customer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671478" y="3196096"/>
            <a:ext cx="209642" cy="243947"/>
            <a:chOff x="0" y="0"/>
            <a:chExt cx="6985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4E7BE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557895" y="3460631"/>
            <a:ext cx="209642" cy="243947"/>
            <a:chOff x="0" y="0"/>
            <a:chExt cx="6985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1EBD4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6798" y="2442906"/>
            <a:ext cx="6710619" cy="6710619"/>
          </a:xfrm>
          <a:custGeom>
            <a:avLst/>
            <a:gdLst/>
            <a:ahLst/>
            <a:cxnLst/>
            <a:rect r="r" b="b" t="t" l="l"/>
            <a:pathLst>
              <a:path h="6710619" w="6710619">
                <a:moveTo>
                  <a:pt x="0" y="0"/>
                </a:moveTo>
                <a:lnTo>
                  <a:pt x="6710618" y="0"/>
                </a:lnTo>
                <a:lnTo>
                  <a:pt x="6710618" y="6710619"/>
                </a:lnTo>
                <a:lnTo>
                  <a:pt x="0" y="67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0725" y="5464841"/>
            <a:ext cx="722764" cy="666750"/>
          </a:xfrm>
          <a:custGeom>
            <a:avLst/>
            <a:gdLst/>
            <a:ahLst/>
            <a:cxnLst/>
            <a:rect r="r" b="b" t="t" l="l"/>
            <a:pathLst>
              <a:path h="666750" w="722764">
                <a:moveTo>
                  <a:pt x="0" y="0"/>
                </a:moveTo>
                <a:lnTo>
                  <a:pt x="722764" y="0"/>
                </a:lnTo>
                <a:lnTo>
                  <a:pt x="722764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3131" y="3534620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6549656" y="3333916"/>
            <a:ext cx="681295" cy="0"/>
          </a:xfrm>
          <a:prstGeom prst="line">
            <a:avLst/>
          </a:prstGeom>
          <a:ln cap="flat" w="38100">
            <a:solidFill>
              <a:srgbClr val="5CD7AF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1594903" y="2499012"/>
            <a:ext cx="3061394" cy="1669807"/>
            <a:chOff x="0" y="0"/>
            <a:chExt cx="806293" cy="4397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24461" y="2704440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onversion Rate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4461" y="3179801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ercentage of v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isitors who complete a desired action or purchase.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900080" y="2619541"/>
            <a:ext cx="1428750" cy="14287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179647" y="2952916"/>
            <a:ext cx="869615" cy="762000"/>
          </a:xfrm>
          <a:custGeom>
            <a:avLst/>
            <a:gdLst/>
            <a:ahLst/>
            <a:cxnLst/>
            <a:rect r="r" b="b" t="t" l="l"/>
            <a:pathLst>
              <a:path h="762000" w="869615">
                <a:moveTo>
                  <a:pt x="0" y="0"/>
                </a:moveTo>
                <a:lnTo>
                  <a:pt x="869615" y="0"/>
                </a:lnTo>
                <a:lnTo>
                  <a:pt x="86961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6928" y="8151036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>
            <a:off x="5948545" y="7463365"/>
            <a:ext cx="601111" cy="486966"/>
          </a:xfrm>
          <a:custGeom>
            <a:avLst/>
            <a:gdLst/>
            <a:ahLst/>
            <a:cxnLst/>
            <a:rect r="r" b="b" t="t" l="l"/>
            <a:pathLst>
              <a:path h="486966" w="601111">
                <a:moveTo>
                  <a:pt x="601111" y="0"/>
                </a:moveTo>
                <a:lnTo>
                  <a:pt x="601111" y="258367"/>
                </a:lnTo>
                <a:cubicBezTo>
                  <a:pt x="601111" y="384619"/>
                  <a:pt x="498763" y="486967"/>
                  <a:pt x="372511" y="486967"/>
                </a:cubicBezTo>
                <a:lnTo>
                  <a:pt x="0" y="486967"/>
                </a:lnTo>
              </a:path>
            </a:pathLst>
          </a:custGeom>
          <a:ln cap="flat" w="38100">
            <a:solidFill>
              <a:srgbClr val="004AAD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028700" y="7115428"/>
            <a:ext cx="3061394" cy="1669807"/>
            <a:chOff x="0" y="0"/>
            <a:chExt cx="806293" cy="4397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8259" y="7320856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Ref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erral Rate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259" y="7796217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Numb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 of cu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stomers who recommend the brand to others.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333877" y="7235957"/>
            <a:ext cx="1428750" cy="14287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678682" y="7569332"/>
            <a:ext cx="739140" cy="762000"/>
          </a:xfrm>
          <a:custGeom>
            <a:avLst/>
            <a:gdLst/>
            <a:ahLst/>
            <a:cxnLst/>
            <a:rect r="r" b="b" t="t" l="l"/>
            <a:pathLst>
              <a:path h="762000" w="739140">
                <a:moveTo>
                  <a:pt x="0" y="0"/>
                </a:moveTo>
                <a:lnTo>
                  <a:pt x="739140" y="0"/>
                </a:lnTo>
                <a:lnTo>
                  <a:pt x="73914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>
            <a:off x="11451415" y="3598439"/>
            <a:ext cx="845079" cy="449852"/>
          </a:xfrm>
          <a:custGeom>
            <a:avLst/>
            <a:gdLst/>
            <a:ahLst/>
            <a:cxnLst/>
            <a:rect r="r" b="b" t="t" l="l"/>
            <a:pathLst>
              <a:path h="449852" w="845079">
                <a:moveTo>
                  <a:pt x="845079" y="0"/>
                </a:moveTo>
                <a:lnTo>
                  <a:pt x="633809" y="0"/>
                </a:lnTo>
                <a:cubicBezTo>
                  <a:pt x="577777" y="0"/>
                  <a:pt x="524039" y="22259"/>
                  <a:pt x="484418" y="61879"/>
                </a:cubicBezTo>
                <a:cubicBezTo>
                  <a:pt x="444798" y="101500"/>
                  <a:pt x="422539" y="155237"/>
                  <a:pt x="422539" y="211270"/>
                </a:cubicBezTo>
                <a:lnTo>
                  <a:pt x="422539" y="238582"/>
                </a:lnTo>
                <a:cubicBezTo>
                  <a:pt x="422539" y="294614"/>
                  <a:pt x="400281" y="348352"/>
                  <a:pt x="360660" y="387972"/>
                </a:cubicBezTo>
                <a:cubicBezTo>
                  <a:pt x="321039" y="427593"/>
                  <a:pt x="267301" y="449852"/>
                  <a:pt x="211270" y="449852"/>
                </a:cubicBezTo>
                <a:lnTo>
                  <a:pt x="0" y="449852"/>
                </a:lnTo>
              </a:path>
            </a:pathLst>
          </a:custGeom>
          <a:ln cap="flat" w="38100">
            <a:solidFill>
              <a:srgbClr val="46C89F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4320357" y="3799144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192129" y="2763535"/>
            <a:ext cx="3061394" cy="1669807"/>
            <a:chOff x="0" y="0"/>
            <a:chExt cx="806293" cy="4397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421687" y="296896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Rete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ntion Rate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21687" y="3444324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ercentage of cu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stomers who continue using products over time.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519596" y="2884064"/>
            <a:ext cx="1428750" cy="142875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A9F7DE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823742" y="3217439"/>
            <a:ext cx="820458" cy="762000"/>
          </a:xfrm>
          <a:custGeom>
            <a:avLst/>
            <a:gdLst/>
            <a:ahLst/>
            <a:cxnLst/>
            <a:rect r="r" b="b" t="t" l="l"/>
            <a:pathLst>
              <a:path h="762000" w="820458">
                <a:moveTo>
                  <a:pt x="0" y="0"/>
                </a:moveTo>
                <a:lnTo>
                  <a:pt x="820458" y="0"/>
                </a:lnTo>
                <a:lnTo>
                  <a:pt x="82045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H="true">
            <a:off x="10571185" y="8250124"/>
            <a:ext cx="880230" cy="0"/>
          </a:xfrm>
          <a:prstGeom prst="line">
            <a:avLst/>
          </a:prstGeom>
          <a:ln cap="flat" w="38100">
            <a:solidFill>
              <a:srgbClr val="00C6DD"/>
            </a:solidFill>
            <a:prstDash val="sysDot"/>
            <a:headEnd type="oval" len="lg" w="lg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3502223" y="8450829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373995" y="7415221"/>
            <a:ext cx="3061394" cy="1669807"/>
            <a:chOff x="0" y="0"/>
            <a:chExt cx="806293" cy="4397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6293" cy="439785"/>
            </a:xfrm>
            <a:custGeom>
              <a:avLst/>
              <a:gdLst/>
              <a:ahLst/>
              <a:cxnLst/>
              <a:rect r="r" b="b" t="t" l="l"/>
              <a:pathLst>
                <a:path h="439785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6293" cy="4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603553" y="7620649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Sati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sfaction Score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03553" y="8096010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Custom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 rating of expe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rience quality across different touchpoints.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01462" y="7535749"/>
            <a:ext cx="1428750" cy="142875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031474" y="7869124"/>
            <a:ext cx="768726" cy="762000"/>
          </a:xfrm>
          <a:custGeom>
            <a:avLst/>
            <a:gdLst/>
            <a:ahLst/>
            <a:cxnLst/>
            <a:rect r="r" b="b" t="t" l="l"/>
            <a:pathLst>
              <a:path h="762000" w="768726">
                <a:moveTo>
                  <a:pt x="0" y="0"/>
                </a:moveTo>
                <a:lnTo>
                  <a:pt x="768727" y="0"/>
                </a:lnTo>
                <a:lnTo>
                  <a:pt x="76872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5662799" y="815103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</a:t>
            </a: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METRICS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966565" y="1435409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Compare key indicators used to measure jour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ney effectiveness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-7815044">
            <a:off x="-5383065" y="7405287"/>
            <a:ext cx="10248976" cy="2382887"/>
          </a:xfrm>
          <a:custGeom>
            <a:avLst/>
            <a:gdLst/>
            <a:ahLst/>
            <a:cxnLst/>
            <a:rect r="r" b="b" t="t" l="l"/>
            <a:pathLst>
              <a:path h="2382887" w="10248976">
                <a:moveTo>
                  <a:pt x="0" y="0"/>
                </a:moveTo>
                <a:lnTo>
                  <a:pt x="10248975" y="0"/>
                </a:lnTo>
                <a:lnTo>
                  <a:pt x="10248975" y="2382887"/>
                </a:lnTo>
                <a:lnTo>
                  <a:pt x="0" y="23828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7815044">
            <a:off x="14665041" y="1814208"/>
            <a:ext cx="10248976" cy="2382887"/>
          </a:xfrm>
          <a:custGeom>
            <a:avLst/>
            <a:gdLst/>
            <a:ahLst/>
            <a:cxnLst/>
            <a:rect r="r" b="b" t="t" l="l"/>
            <a:pathLst>
              <a:path h="2382887" w="10248976">
                <a:moveTo>
                  <a:pt x="0" y="0"/>
                </a:moveTo>
                <a:lnTo>
                  <a:pt x="10248975" y="0"/>
                </a:lnTo>
                <a:lnTo>
                  <a:pt x="10248975" y="2382887"/>
                </a:lnTo>
                <a:lnTo>
                  <a:pt x="0" y="23828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62799" y="815103"/>
            <a:ext cx="69624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JOURNEY</a:t>
            </a:r>
            <a:r>
              <a:rPr lang="en-US" b="true" sz="42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66565" y="1435409"/>
            <a:ext cx="123548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Summarize insights and actions to strengthen customer loyalt</a:t>
            </a:r>
            <a:r>
              <a:rPr lang="en-US" sz="2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y strategy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048252" y="3225500"/>
            <a:ext cx="12244370" cy="6734403"/>
          </a:xfrm>
          <a:custGeom>
            <a:avLst/>
            <a:gdLst/>
            <a:ahLst/>
            <a:cxnLst/>
            <a:rect r="r" b="b" t="t" l="l"/>
            <a:pathLst>
              <a:path h="6734403" w="12244370">
                <a:moveTo>
                  <a:pt x="0" y="0"/>
                </a:moveTo>
                <a:lnTo>
                  <a:pt x="12244370" y="0"/>
                </a:lnTo>
                <a:lnTo>
                  <a:pt x="12244370" y="6734403"/>
                </a:lnTo>
                <a:lnTo>
                  <a:pt x="0" y="673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4090095" y="8308318"/>
            <a:ext cx="4671827" cy="263244"/>
          </a:xfrm>
          <a:custGeom>
            <a:avLst/>
            <a:gdLst/>
            <a:ahLst/>
            <a:cxnLst/>
            <a:rect r="r" b="b" t="t" l="l"/>
            <a:pathLst>
              <a:path h="263244" w="4671827">
                <a:moveTo>
                  <a:pt x="4671827" y="263244"/>
                </a:moveTo>
                <a:lnTo>
                  <a:pt x="2547588" y="263244"/>
                </a:lnTo>
                <a:cubicBezTo>
                  <a:pt x="2512679" y="263244"/>
                  <a:pt x="2479201" y="249377"/>
                  <a:pt x="2454517" y="224693"/>
                </a:cubicBezTo>
                <a:cubicBezTo>
                  <a:pt x="2429833" y="200009"/>
                  <a:pt x="2415966" y="166531"/>
                  <a:pt x="2415966" y="131622"/>
                </a:cubicBezTo>
                <a:lnTo>
                  <a:pt x="2415966" y="131622"/>
                </a:lnTo>
                <a:cubicBezTo>
                  <a:pt x="2415966" y="58929"/>
                  <a:pt x="2357037" y="0"/>
                  <a:pt x="2284344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8CDA"/>
            </a:solidFill>
            <a:prstDash val="lgDash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>
            <a:off x="5453767" y="5930457"/>
            <a:ext cx="4959003" cy="1542957"/>
          </a:xfrm>
          <a:custGeom>
            <a:avLst/>
            <a:gdLst/>
            <a:ahLst/>
            <a:cxnLst/>
            <a:rect r="r" b="b" t="t" l="l"/>
            <a:pathLst>
              <a:path h="1542957" w="4959003">
                <a:moveTo>
                  <a:pt x="4959003" y="1542957"/>
                </a:moveTo>
                <a:lnTo>
                  <a:pt x="3536755" y="1542957"/>
                </a:lnTo>
                <a:cubicBezTo>
                  <a:pt x="3410503" y="1542957"/>
                  <a:pt x="3308155" y="1440609"/>
                  <a:pt x="3308155" y="1314357"/>
                </a:cubicBezTo>
                <a:lnTo>
                  <a:pt x="3308155" y="228600"/>
                </a:lnTo>
                <a:cubicBezTo>
                  <a:pt x="3308155" y="102348"/>
                  <a:pt x="3205807" y="0"/>
                  <a:pt x="3079555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6CFACD"/>
            </a:solidFill>
            <a:prstDash val="lgDash"/>
            <a:headEnd type="none" len="sm" w="sm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>
            <a:off x="6817440" y="3552597"/>
            <a:ext cx="5438728" cy="3092236"/>
          </a:xfrm>
          <a:custGeom>
            <a:avLst/>
            <a:gdLst/>
            <a:ahLst/>
            <a:cxnLst/>
            <a:rect r="r" b="b" t="t" l="l"/>
            <a:pathLst>
              <a:path h="3092236" w="5438728">
                <a:moveTo>
                  <a:pt x="5438728" y="3092235"/>
                </a:moveTo>
                <a:lnTo>
                  <a:pt x="5438728" y="2606460"/>
                </a:lnTo>
                <a:cubicBezTo>
                  <a:pt x="5438728" y="2545832"/>
                  <a:pt x="5414644" y="2487686"/>
                  <a:pt x="5371773" y="2444815"/>
                </a:cubicBezTo>
                <a:cubicBezTo>
                  <a:pt x="5328902" y="2401945"/>
                  <a:pt x="5270757" y="2377860"/>
                  <a:pt x="5210128" y="2377860"/>
                </a:cubicBezTo>
                <a:lnTo>
                  <a:pt x="2764999" y="2377860"/>
                </a:lnTo>
                <a:cubicBezTo>
                  <a:pt x="2704370" y="2377860"/>
                  <a:pt x="2646225" y="2353775"/>
                  <a:pt x="2603355" y="2310905"/>
                </a:cubicBezTo>
                <a:cubicBezTo>
                  <a:pt x="2560484" y="2268034"/>
                  <a:pt x="2536399" y="2209888"/>
                  <a:pt x="2536399" y="2149260"/>
                </a:cubicBezTo>
                <a:lnTo>
                  <a:pt x="2536399" y="228600"/>
                </a:lnTo>
                <a:cubicBezTo>
                  <a:pt x="2536399" y="102347"/>
                  <a:pt x="2434051" y="0"/>
                  <a:pt x="2307799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C6DD"/>
            </a:solidFill>
            <a:prstDash val="lgDash"/>
            <a:headEnd type="none" len="sm" w="sm"/>
            <a:tailEnd type="oval" len="lg" w="lg"/>
          </a:ln>
        </p:spPr>
      </p:sp>
      <p:sp>
        <p:nvSpPr>
          <p:cNvPr name="Freeform 8" id="8"/>
          <p:cNvSpPr/>
          <p:nvPr/>
        </p:nvSpPr>
        <p:spPr>
          <a:xfrm>
            <a:off x="11435220" y="4334319"/>
            <a:ext cx="2164262" cy="1824811"/>
          </a:xfrm>
          <a:custGeom>
            <a:avLst/>
            <a:gdLst/>
            <a:ahLst/>
            <a:cxnLst/>
            <a:rect r="r" b="b" t="t" l="l"/>
            <a:pathLst>
              <a:path h="1824811" w="2164262">
                <a:moveTo>
                  <a:pt x="2164262" y="1824811"/>
                </a:moveTo>
                <a:lnTo>
                  <a:pt x="2164262" y="650848"/>
                </a:lnTo>
                <a:cubicBezTo>
                  <a:pt x="2164262" y="590220"/>
                  <a:pt x="2140178" y="532074"/>
                  <a:pt x="2097306" y="489203"/>
                </a:cubicBezTo>
                <a:cubicBezTo>
                  <a:pt x="2054436" y="446333"/>
                  <a:pt x="1996290" y="422248"/>
                  <a:pt x="1935662" y="422248"/>
                </a:cubicBezTo>
                <a:lnTo>
                  <a:pt x="24867" y="422248"/>
                </a:lnTo>
                <a:cubicBezTo>
                  <a:pt x="11133" y="422248"/>
                  <a:pt x="0" y="411115"/>
                  <a:pt x="0" y="397381"/>
                </a:cubicBezTo>
                <a:moveTo>
                  <a:pt x="0" y="372513"/>
                </a:moveTo>
                <a:lnTo>
                  <a:pt x="0" y="0"/>
                </a:lnTo>
              </a:path>
            </a:pathLst>
          </a:custGeom>
          <a:ln cap="flat" w="38100">
            <a:solidFill>
              <a:srgbClr val="004AAD"/>
            </a:solidFill>
            <a:prstDash val="lgDash"/>
            <a:headEnd type="none" len="sm" w="sm"/>
            <a:tailEnd type="oval" len="lg" w="lg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56928" y="8509023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7593943"/>
            <a:ext cx="3061394" cy="1428750"/>
            <a:chOff x="0" y="0"/>
            <a:chExt cx="806293" cy="3762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6293" cy="376296"/>
            </a:xfrm>
            <a:custGeom>
              <a:avLst/>
              <a:gdLst/>
              <a:ahLst/>
              <a:cxnLst/>
              <a:rect r="r" b="b" t="t" l="l"/>
              <a:pathLst>
                <a:path h="376296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8363"/>
                  </a:lnTo>
                  <a:cubicBezTo>
                    <a:pt x="806293" y="359313"/>
                    <a:pt x="789310" y="376296"/>
                    <a:pt x="768360" y="376296"/>
                  </a:cubicBezTo>
                  <a:lnTo>
                    <a:pt x="37933" y="376296"/>
                  </a:lnTo>
                  <a:cubicBezTo>
                    <a:pt x="16983" y="376296"/>
                    <a:pt x="0" y="359313"/>
                    <a:pt x="0" y="338363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06293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8259" y="7678842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Map J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ourney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59" y="8154203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Do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cument all touchpo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ints and customer interactions across channels.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33877" y="7593943"/>
            <a:ext cx="1428750" cy="1428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8CD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520601" y="6131162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392373" y="5216082"/>
            <a:ext cx="3061394" cy="1428750"/>
            <a:chOff x="0" y="0"/>
            <a:chExt cx="806293" cy="3762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6293" cy="376296"/>
            </a:xfrm>
            <a:custGeom>
              <a:avLst/>
              <a:gdLst/>
              <a:ahLst/>
              <a:cxnLst/>
              <a:rect r="r" b="b" t="t" l="l"/>
              <a:pathLst>
                <a:path h="376296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8363"/>
                  </a:lnTo>
                  <a:cubicBezTo>
                    <a:pt x="806293" y="359313"/>
                    <a:pt x="789310" y="376296"/>
                    <a:pt x="768360" y="376296"/>
                  </a:cubicBezTo>
                  <a:lnTo>
                    <a:pt x="37933" y="376296"/>
                  </a:lnTo>
                  <a:cubicBezTo>
                    <a:pt x="16983" y="376296"/>
                    <a:pt x="0" y="359313"/>
                    <a:pt x="0" y="338363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06293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621931" y="5300982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Impr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ove Experience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97888" y="5776343"/>
            <a:ext cx="2250364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Address gaps and optimize key moments in the journey.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697550" y="5216082"/>
            <a:ext cx="1428750" cy="142875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6CFAC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3884274" y="3753301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756046" y="2838222"/>
            <a:ext cx="3061394" cy="1428750"/>
            <a:chOff x="0" y="0"/>
            <a:chExt cx="806293" cy="3762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6293" cy="376296"/>
            </a:xfrm>
            <a:custGeom>
              <a:avLst/>
              <a:gdLst/>
              <a:ahLst/>
              <a:cxnLst/>
              <a:rect r="r" b="b" t="t" l="l"/>
              <a:pathLst>
                <a:path h="376296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8363"/>
                  </a:lnTo>
                  <a:cubicBezTo>
                    <a:pt x="806293" y="359313"/>
                    <a:pt x="789310" y="376296"/>
                    <a:pt x="768360" y="376296"/>
                  </a:cubicBezTo>
                  <a:lnTo>
                    <a:pt x="37933" y="376296"/>
                  </a:lnTo>
                  <a:cubicBezTo>
                    <a:pt x="16983" y="376296"/>
                    <a:pt x="0" y="359313"/>
                    <a:pt x="0" y="338363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6293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985604" y="2923121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easure Impact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33877" y="3299468"/>
            <a:ext cx="190573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rack me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trics to validate changes and improvements.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061223" y="2838222"/>
            <a:ext cx="1428750" cy="142875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C6D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919221" y="3326553"/>
            <a:ext cx="2804938" cy="923080"/>
          </a:xfrm>
          <a:custGeom>
            <a:avLst/>
            <a:gdLst/>
            <a:ahLst/>
            <a:cxnLst/>
            <a:rect r="r" b="b" t="t" l="l"/>
            <a:pathLst>
              <a:path h="923080" w="2804938">
                <a:moveTo>
                  <a:pt x="0" y="0"/>
                </a:moveTo>
                <a:lnTo>
                  <a:pt x="2804937" y="0"/>
                </a:lnTo>
                <a:lnTo>
                  <a:pt x="2804937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90992" y="2411473"/>
            <a:ext cx="3061394" cy="1428750"/>
            <a:chOff x="0" y="0"/>
            <a:chExt cx="806293" cy="3762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6293" cy="376296"/>
            </a:xfrm>
            <a:custGeom>
              <a:avLst/>
              <a:gdLst/>
              <a:ahLst/>
              <a:cxnLst/>
              <a:rect r="r" b="b" t="t" l="l"/>
              <a:pathLst>
                <a:path h="376296" w="80629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338363"/>
                  </a:lnTo>
                  <a:cubicBezTo>
                    <a:pt x="806293" y="359313"/>
                    <a:pt x="789310" y="376296"/>
                    <a:pt x="768360" y="376296"/>
                  </a:cubicBezTo>
                  <a:lnTo>
                    <a:pt x="37933" y="376296"/>
                  </a:lnTo>
                  <a:cubicBezTo>
                    <a:pt x="16983" y="376296"/>
                    <a:pt x="0" y="359313"/>
                    <a:pt x="0" y="338363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06293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020551" y="2496373"/>
            <a:ext cx="26022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Pla</a:t>
            </a:r>
            <a:r>
              <a:rPr lang="en-US" b="true" sz="210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n Next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20551" y="2872720"/>
            <a:ext cx="260227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efine fu</a:t>
            </a: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ture enhancements to maintain long term customer loyalty.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096169" y="2411473"/>
            <a:ext cx="1428750" cy="142875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4621958" y="7927318"/>
            <a:ext cx="852587" cy="762000"/>
          </a:xfrm>
          <a:custGeom>
            <a:avLst/>
            <a:gdLst/>
            <a:ahLst/>
            <a:cxnLst/>
            <a:rect r="r" b="b" t="t" l="l"/>
            <a:pathLst>
              <a:path h="762000" w="852587">
                <a:moveTo>
                  <a:pt x="0" y="0"/>
                </a:moveTo>
                <a:lnTo>
                  <a:pt x="852588" y="0"/>
                </a:lnTo>
                <a:lnTo>
                  <a:pt x="85258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932679" y="5549457"/>
            <a:ext cx="958491" cy="762000"/>
          </a:xfrm>
          <a:custGeom>
            <a:avLst/>
            <a:gdLst/>
            <a:ahLst/>
            <a:cxnLst/>
            <a:rect r="r" b="b" t="t" l="l"/>
            <a:pathLst>
              <a:path h="762000" w="958491">
                <a:moveTo>
                  <a:pt x="0" y="0"/>
                </a:moveTo>
                <a:lnTo>
                  <a:pt x="958491" y="0"/>
                </a:lnTo>
                <a:lnTo>
                  <a:pt x="95849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349304" y="3171597"/>
            <a:ext cx="852587" cy="762000"/>
          </a:xfrm>
          <a:custGeom>
            <a:avLst/>
            <a:gdLst/>
            <a:ahLst/>
            <a:cxnLst/>
            <a:rect r="r" b="b" t="t" l="l"/>
            <a:pathLst>
              <a:path h="762000" w="852587">
                <a:moveTo>
                  <a:pt x="0" y="0"/>
                </a:moveTo>
                <a:lnTo>
                  <a:pt x="852587" y="0"/>
                </a:lnTo>
                <a:lnTo>
                  <a:pt x="85258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541939" y="2744848"/>
            <a:ext cx="537210" cy="762000"/>
          </a:xfrm>
          <a:custGeom>
            <a:avLst/>
            <a:gdLst/>
            <a:ahLst/>
            <a:cxnLst/>
            <a:rect r="r" b="b" t="t" l="l"/>
            <a:pathLst>
              <a:path h="762000" w="537210">
                <a:moveTo>
                  <a:pt x="0" y="0"/>
                </a:moveTo>
                <a:lnTo>
                  <a:pt x="537210" y="0"/>
                </a:lnTo>
                <a:lnTo>
                  <a:pt x="53721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true" flipV="true" rot="7237848">
            <a:off x="11834585" y="8429400"/>
            <a:ext cx="9982151" cy="2208551"/>
          </a:xfrm>
          <a:custGeom>
            <a:avLst/>
            <a:gdLst/>
            <a:ahLst/>
            <a:cxnLst/>
            <a:rect r="r" b="b" t="t" l="l"/>
            <a:pathLst>
              <a:path h="2208551" w="9982151">
                <a:moveTo>
                  <a:pt x="9982151" y="2208551"/>
                </a:moveTo>
                <a:lnTo>
                  <a:pt x="0" y="2208551"/>
                </a:lnTo>
                <a:lnTo>
                  <a:pt x="0" y="0"/>
                </a:lnTo>
                <a:lnTo>
                  <a:pt x="9982151" y="0"/>
                </a:lnTo>
                <a:lnTo>
                  <a:pt x="9982151" y="2208551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true" flipV="true" rot="-2453140">
            <a:off x="-3488929" y="142563"/>
            <a:ext cx="9982151" cy="2208551"/>
          </a:xfrm>
          <a:custGeom>
            <a:avLst/>
            <a:gdLst/>
            <a:ahLst/>
            <a:cxnLst/>
            <a:rect r="r" b="b" t="t" l="l"/>
            <a:pathLst>
              <a:path h="2208551" w="9982151">
                <a:moveTo>
                  <a:pt x="9982150" y="2208551"/>
                </a:moveTo>
                <a:lnTo>
                  <a:pt x="0" y="2208551"/>
                </a:lnTo>
                <a:lnTo>
                  <a:pt x="0" y="0"/>
                </a:lnTo>
                <a:lnTo>
                  <a:pt x="9982150" y="0"/>
                </a:lnTo>
                <a:lnTo>
                  <a:pt x="9982150" y="2208551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DAHLBluZHSY</dc:identifier>
  <dcterms:modified xsi:type="dcterms:W3CDTF">2011-08-01T06:04:30Z</dcterms:modified>
  <cp:revision>1</cp:revision>
</cp:coreProperties>
</file>