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grandir Bold" charset="1" panose="00000800000000000000"/>
      <p:regular r:id="rId16"/>
    </p:embeddedFont>
    <p:embeddedFont>
      <p:font typeface="DM Sans" charset="1" panose="00000000000000000000"/>
      <p:regular r:id="rId17"/>
    </p:embeddedFont>
    <p:embeddedFont>
      <p:font typeface="Agrandir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0578" y="4466092"/>
            <a:ext cx="3506788" cy="3367917"/>
            <a:chOff x="0" y="0"/>
            <a:chExt cx="923598" cy="8870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3598" cy="887023"/>
            </a:xfrm>
            <a:custGeom>
              <a:avLst/>
              <a:gdLst/>
              <a:ahLst/>
              <a:cxnLst/>
              <a:rect r="r" b="b" t="t" l="l"/>
              <a:pathLst>
                <a:path h="887023" w="923598">
                  <a:moveTo>
                    <a:pt x="61815" y="0"/>
                  </a:moveTo>
                  <a:lnTo>
                    <a:pt x="861783" y="0"/>
                  </a:lnTo>
                  <a:cubicBezTo>
                    <a:pt x="895923" y="0"/>
                    <a:pt x="923598" y="27676"/>
                    <a:pt x="923598" y="61815"/>
                  </a:cubicBezTo>
                  <a:lnTo>
                    <a:pt x="923598" y="825208"/>
                  </a:lnTo>
                  <a:cubicBezTo>
                    <a:pt x="923598" y="859348"/>
                    <a:pt x="895923" y="887023"/>
                    <a:pt x="861783" y="887023"/>
                  </a:cubicBezTo>
                  <a:lnTo>
                    <a:pt x="61815" y="887023"/>
                  </a:lnTo>
                  <a:cubicBezTo>
                    <a:pt x="45421" y="887023"/>
                    <a:pt x="29698" y="880511"/>
                    <a:pt x="18105" y="868918"/>
                  </a:cubicBezTo>
                  <a:cubicBezTo>
                    <a:pt x="6513" y="857325"/>
                    <a:pt x="0" y="841602"/>
                    <a:pt x="0" y="825208"/>
                  </a:cubicBezTo>
                  <a:lnTo>
                    <a:pt x="0" y="61815"/>
                  </a:lnTo>
                  <a:cubicBezTo>
                    <a:pt x="0" y="27676"/>
                    <a:pt x="27676" y="0"/>
                    <a:pt x="61815" y="0"/>
                  </a:cubicBezTo>
                  <a:close/>
                </a:path>
              </a:pathLst>
            </a:custGeom>
            <a:solidFill>
              <a:srgbClr val="F4F4F4"/>
            </a:solidFill>
            <a:ln w="66675" cap="rnd">
              <a:solidFill>
                <a:srgbClr val="FF74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23598" cy="896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90606" y="4672199"/>
            <a:ext cx="3506788" cy="3367917"/>
            <a:chOff x="0" y="0"/>
            <a:chExt cx="923598" cy="88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3598" cy="887023"/>
            </a:xfrm>
            <a:custGeom>
              <a:avLst/>
              <a:gdLst/>
              <a:ahLst/>
              <a:cxnLst/>
              <a:rect r="r" b="b" t="t" l="l"/>
              <a:pathLst>
                <a:path h="887023" w="923598">
                  <a:moveTo>
                    <a:pt x="61815" y="0"/>
                  </a:moveTo>
                  <a:lnTo>
                    <a:pt x="861783" y="0"/>
                  </a:lnTo>
                  <a:cubicBezTo>
                    <a:pt x="895923" y="0"/>
                    <a:pt x="923598" y="27676"/>
                    <a:pt x="923598" y="61815"/>
                  </a:cubicBezTo>
                  <a:lnTo>
                    <a:pt x="923598" y="825208"/>
                  </a:lnTo>
                  <a:cubicBezTo>
                    <a:pt x="923598" y="859348"/>
                    <a:pt x="895923" y="887023"/>
                    <a:pt x="861783" y="887023"/>
                  </a:cubicBezTo>
                  <a:lnTo>
                    <a:pt x="61815" y="887023"/>
                  </a:lnTo>
                  <a:cubicBezTo>
                    <a:pt x="45421" y="887023"/>
                    <a:pt x="29698" y="880511"/>
                    <a:pt x="18105" y="868918"/>
                  </a:cubicBezTo>
                  <a:cubicBezTo>
                    <a:pt x="6513" y="857325"/>
                    <a:pt x="0" y="841602"/>
                    <a:pt x="0" y="825208"/>
                  </a:cubicBezTo>
                  <a:lnTo>
                    <a:pt x="0" y="61815"/>
                  </a:lnTo>
                  <a:cubicBezTo>
                    <a:pt x="0" y="27676"/>
                    <a:pt x="27676" y="0"/>
                    <a:pt x="61815" y="0"/>
                  </a:cubicBezTo>
                  <a:close/>
                </a:path>
              </a:pathLst>
            </a:custGeom>
            <a:solidFill>
              <a:srgbClr val="F4F4F4"/>
            </a:solidFill>
            <a:ln w="66675" cap="rnd">
              <a:solidFill>
                <a:srgbClr val="AD94EA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23598" cy="896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59628" y="3978954"/>
            <a:ext cx="3087394" cy="974275"/>
            <a:chOff x="0" y="0"/>
            <a:chExt cx="813141" cy="2565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141" cy="256599"/>
            </a:xfrm>
            <a:custGeom>
              <a:avLst/>
              <a:gdLst/>
              <a:ahLst/>
              <a:cxnLst/>
              <a:rect r="r" b="b" t="t" l="l"/>
              <a:pathLst>
                <a:path h="256599" w="813141">
                  <a:moveTo>
                    <a:pt x="70213" y="0"/>
                  </a:moveTo>
                  <a:lnTo>
                    <a:pt x="742928" y="0"/>
                  </a:lnTo>
                  <a:cubicBezTo>
                    <a:pt x="761550" y="0"/>
                    <a:pt x="779409" y="7397"/>
                    <a:pt x="792576" y="20565"/>
                  </a:cubicBezTo>
                  <a:cubicBezTo>
                    <a:pt x="805744" y="33732"/>
                    <a:pt x="813141" y="51591"/>
                    <a:pt x="813141" y="70213"/>
                  </a:cubicBezTo>
                  <a:lnTo>
                    <a:pt x="813141" y="186387"/>
                  </a:lnTo>
                  <a:cubicBezTo>
                    <a:pt x="813141" y="225164"/>
                    <a:pt x="781706" y="256599"/>
                    <a:pt x="742928" y="256599"/>
                  </a:cubicBezTo>
                  <a:lnTo>
                    <a:pt x="70213" y="256599"/>
                  </a:lnTo>
                  <a:cubicBezTo>
                    <a:pt x="51591" y="256599"/>
                    <a:pt x="33732" y="249202"/>
                    <a:pt x="20565" y="236034"/>
                  </a:cubicBezTo>
                  <a:cubicBezTo>
                    <a:pt x="7397" y="222867"/>
                    <a:pt x="0" y="205008"/>
                    <a:pt x="0" y="186387"/>
                  </a:cubicBezTo>
                  <a:lnTo>
                    <a:pt x="0" y="70213"/>
                  </a:lnTo>
                  <a:cubicBezTo>
                    <a:pt x="0" y="51591"/>
                    <a:pt x="7397" y="33732"/>
                    <a:pt x="20565" y="20565"/>
                  </a:cubicBezTo>
                  <a:cubicBezTo>
                    <a:pt x="33732" y="7397"/>
                    <a:pt x="51591" y="0"/>
                    <a:pt x="70213" y="0"/>
                  </a:cubicBezTo>
                  <a:close/>
                </a:path>
              </a:pathLst>
            </a:custGeom>
            <a:solidFill>
              <a:srgbClr val="FF7400"/>
            </a:solidFill>
            <a:ln w="66675" cap="rnd">
              <a:solidFill>
                <a:srgbClr val="FF74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13141" cy="266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99656" y="4222523"/>
            <a:ext cx="3087394" cy="974275"/>
            <a:chOff x="0" y="0"/>
            <a:chExt cx="813141" cy="2565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3141" cy="256599"/>
            </a:xfrm>
            <a:custGeom>
              <a:avLst/>
              <a:gdLst/>
              <a:ahLst/>
              <a:cxnLst/>
              <a:rect r="r" b="b" t="t" l="l"/>
              <a:pathLst>
                <a:path h="256599" w="813141">
                  <a:moveTo>
                    <a:pt x="70213" y="0"/>
                  </a:moveTo>
                  <a:lnTo>
                    <a:pt x="742928" y="0"/>
                  </a:lnTo>
                  <a:cubicBezTo>
                    <a:pt x="761550" y="0"/>
                    <a:pt x="779409" y="7397"/>
                    <a:pt x="792576" y="20565"/>
                  </a:cubicBezTo>
                  <a:cubicBezTo>
                    <a:pt x="805744" y="33732"/>
                    <a:pt x="813141" y="51591"/>
                    <a:pt x="813141" y="70213"/>
                  </a:cubicBezTo>
                  <a:lnTo>
                    <a:pt x="813141" y="186387"/>
                  </a:lnTo>
                  <a:cubicBezTo>
                    <a:pt x="813141" y="225164"/>
                    <a:pt x="781706" y="256599"/>
                    <a:pt x="742928" y="256599"/>
                  </a:cubicBezTo>
                  <a:lnTo>
                    <a:pt x="70213" y="256599"/>
                  </a:lnTo>
                  <a:cubicBezTo>
                    <a:pt x="51591" y="256599"/>
                    <a:pt x="33732" y="249202"/>
                    <a:pt x="20565" y="236034"/>
                  </a:cubicBezTo>
                  <a:cubicBezTo>
                    <a:pt x="7397" y="222867"/>
                    <a:pt x="0" y="205008"/>
                    <a:pt x="0" y="186387"/>
                  </a:cubicBezTo>
                  <a:lnTo>
                    <a:pt x="0" y="70213"/>
                  </a:lnTo>
                  <a:cubicBezTo>
                    <a:pt x="0" y="51591"/>
                    <a:pt x="7397" y="33732"/>
                    <a:pt x="20565" y="20565"/>
                  </a:cubicBezTo>
                  <a:cubicBezTo>
                    <a:pt x="33732" y="7397"/>
                    <a:pt x="51591" y="0"/>
                    <a:pt x="70213" y="0"/>
                  </a:cubicBezTo>
                  <a:close/>
                </a:path>
              </a:pathLst>
            </a:custGeom>
            <a:solidFill>
              <a:srgbClr val="AD94EA"/>
            </a:solidFill>
            <a:ln w="66675" cap="rnd">
              <a:solidFill>
                <a:srgbClr val="AD94EA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813141" cy="266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30634" y="4466092"/>
            <a:ext cx="3506788" cy="3367917"/>
            <a:chOff x="0" y="0"/>
            <a:chExt cx="923598" cy="887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3598" cy="887023"/>
            </a:xfrm>
            <a:custGeom>
              <a:avLst/>
              <a:gdLst/>
              <a:ahLst/>
              <a:cxnLst/>
              <a:rect r="r" b="b" t="t" l="l"/>
              <a:pathLst>
                <a:path h="887023" w="923598">
                  <a:moveTo>
                    <a:pt x="61815" y="0"/>
                  </a:moveTo>
                  <a:lnTo>
                    <a:pt x="861783" y="0"/>
                  </a:lnTo>
                  <a:cubicBezTo>
                    <a:pt x="895923" y="0"/>
                    <a:pt x="923598" y="27676"/>
                    <a:pt x="923598" y="61815"/>
                  </a:cubicBezTo>
                  <a:lnTo>
                    <a:pt x="923598" y="825208"/>
                  </a:lnTo>
                  <a:cubicBezTo>
                    <a:pt x="923598" y="859348"/>
                    <a:pt x="895923" y="887023"/>
                    <a:pt x="861783" y="887023"/>
                  </a:cubicBezTo>
                  <a:lnTo>
                    <a:pt x="61815" y="887023"/>
                  </a:lnTo>
                  <a:cubicBezTo>
                    <a:pt x="45421" y="887023"/>
                    <a:pt x="29698" y="880511"/>
                    <a:pt x="18105" y="868918"/>
                  </a:cubicBezTo>
                  <a:cubicBezTo>
                    <a:pt x="6513" y="857325"/>
                    <a:pt x="0" y="841602"/>
                    <a:pt x="0" y="825208"/>
                  </a:cubicBezTo>
                  <a:lnTo>
                    <a:pt x="0" y="61815"/>
                  </a:lnTo>
                  <a:cubicBezTo>
                    <a:pt x="0" y="27676"/>
                    <a:pt x="27676" y="0"/>
                    <a:pt x="61815" y="0"/>
                  </a:cubicBezTo>
                  <a:close/>
                </a:path>
              </a:pathLst>
            </a:custGeom>
            <a:solidFill>
              <a:srgbClr val="F4F4F4"/>
            </a:solidFill>
            <a:ln w="66675" cap="rnd">
              <a:solidFill>
                <a:srgbClr val="00B2F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23598" cy="896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39684" y="3978954"/>
            <a:ext cx="3087394" cy="974275"/>
            <a:chOff x="0" y="0"/>
            <a:chExt cx="813141" cy="2565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3141" cy="256599"/>
            </a:xfrm>
            <a:custGeom>
              <a:avLst/>
              <a:gdLst/>
              <a:ahLst/>
              <a:cxnLst/>
              <a:rect r="r" b="b" t="t" l="l"/>
              <a:pathLst>
                <a:path h="256599" w="813141">
                  <a:moveTo>
                    <a:pt x="70213" y="0"/>
                  </a:moveTo>
                  <a:lnTo>
                    <a:pt x="742928" y="0"/>
                  </a:lnTo>
                  <a:cubicBezTo>
                    <a:pt x="761550" y="0"/>
                    <a:pt x="779409" y="7397"/>
                    <a:pt x="792576" y="20565"/>
                  </a:cubicBezTo>
                  <a:cubicBezTo>
                    <a:pt x="805744" y="33732"/>
                    <a:pt x="813141" y="51591"/>
                    <a:pt x="813141" y="70213"/>
                  </a:cubicBezTo>
                  <a:lnTo>
                    <a:pt x="813141" y="186387"/>
                  </a:lnTo>
                  <a:cubicBezTo>
                    <a:pt x="813141" y="225164"/>
                    <a:pt x="781706" y="256599"/>
                    <a:pt x="742928" y="256599"/>
                  </a:cubicBezTo>
                  <a:lnTo>
                    <a:pt x="70213" y="256599"/>
                  </a:lnTo>
                  <a:cubicBezTo>
                    <a:pt x="51591" y="256599"/>
                    <a:pt x="33732" y="249202"/>
                    <a:pt x="20565" y="236034"/>
                  </a:cubicBezTo>
                  <a:cubicBezTo>
                    <a:pt x="7397" y="222867"/>
                    <a:pt x="0" y="205008"/>
                    <a:pt x="0" y="186387"/>
                  </a:cubicBezTo>
                  <a:lnTo>
                    <a:pt x="0" y="70213"/>
                  </a:lnTo>
                  <a:cubicBezTo>
                    <a:pt x="0" y="51591"/>
                    <a:pt x="7397" y="33732"/>
                    <a:pt x="20565" y="20565"/>
                  </a:cubicBezTo>
                  <a:cubicBezTo>
                    <a:pt x="33732" y="7397"/>
                    <a:pt x="51591" y="0"/>
                    <a:pt x="70213" y="0"/>
                  </a:cubicBezTo>
                  <a:close/>
                </a:path>
              </a:pathLst>
            </a:custGeom>
            <a:solidFill>
              <a:srgbClr val="00B2F9"/>
            </a:solidFill>
            <a:ln w="66675" cap="rnd">
              <a:solidFill>
                <a:srgbClr val="00B2F9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13141" cy="266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>
            <a:off x="5796715" y="3429733"/>
            <a:ext cx="2128255" cy="380359"/>
          </a:xfrm>
          <a:custGeom>
            <a:avLst/>
            <a:gdLst/>
            <a:ahLst/>
            <a:cxnLst/>
            <a:rect r="r" b="b" t="t" l="l"/>
            <a:pathLst>
              <a:path h="380359" w="2128255">
                <a:moveTo>
                  <a:pt x="0" y="170015"/>
                </a:moveTo>
                <a:quadBezTo>
                  <a:pt x="1116459" y="-254297"/>
                  <a:pt x="2128255" y="380359"/>
                </a:quadBezTo>
              </a:path>
            </a:pathLst>
          </a:cu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Freeform 21" id="21"/>
          <p:cNvSpPr/>
          <p:nvPr/>
        </p:nvSpPr>
        <p:spPr>
          <a:xfrm>
            <a:off x="10131118" y="3459524"/>
            <a:ext cx="2094188" cy="370220"/>
          </a:xfrm>
          <a:custGeom>
            <a:avLst/>
            <a:gdLst/>
            <a:ahLst/>
            <a:cxnLst/>
            <a:rect r="r" b="b" t="t" l="l"/>
            <a:pathLst>
              <a:path h="370220" w="2094188">
                <a:moveTo>
                  <a:pt x="0" y="370220"/>
                </a:moveTo>
                <a:quadBezTo>
                  <a:pt x="998257" y="-256117"/>
                  <a:pt x="2094188" y="177181"/>
                </a:quadBezTo>
              </a:path>
            </a:pathLst>
          </a:cu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oval" len="lg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4069603" y="7154970"/>
            <a:ext cx="1268738" cy="126873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4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949659" y="7154970"/>
            <a:ext cx="1268738" cy="126873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2F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532443" y="7332748"/>
            <a:ext cx="1268738" cy="126873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4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4320775" y="7383302"/>
            <a:ext cx="766395" cy="812074"/>
          </a:xfrm>
          <a:custGeom>
            <a:avLst/>
            <a:gdLst/>
            <a:ahLst/>
            <a:cxnLst/>
            <a:rect r="r" b="b" t="t" l="l"/>
            <a:pathLst>
              <a:path h="812074" w="766395">
                <a:moveTo>
                  <a:pt x="0" y="0"/>
                </a:moveTo>
                <a:lnTo>
                  <a:pt x="766395" y="0"/>
                </a:lnTo>
                <a:lnTo>
                  <a:pt x="766395" y="812074"/>
                </a:lnTo>
                <a:lnTo>
                  <a:pt x="0" y="812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798692" y="7621809"/>
            <a:ext cx="690615" cy="690615"/>
          </a:xfrm>
          <a:custGeom>
            <a:avLst/>
            <a:gdLst/>
            <a:ahLst/>
            <a:cxnLst/>
            <a:rect r="r" b="b" t="t" l="l"/>
            <a:pathLst>
              <a:path h="690615" w="690615">
                <a:moveTo>
                  <a:pt x="0" y="0"/>
                </a:moveTo>
                <a:lnTo>
                  <a:pt x="690616" y="0"/>
                </a:lnTo>
                <a:lnTo>
                  <a:pt x="690616" y="690615"/>
                </a:lnTo>
                <a:lnTo>
                  <a:pt x="0" y="690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249613" y="7454924"/>
            <a:ext cx="668831" cy="668831"/>
          </a:xfrm>
          <a:custGeom>
            <a:avLst/>
            <a:gdLst/>
            <a:ahLst/>
            <a:cxnLst/>
            <a:rect r="r" b="b" t="t" l="l"/>
            <a:pathLst>
              <a:path h="668831" w="668831">
                <a:moveTo>
                  <a:pt x="0" y="0"/>
                </a:moveTo>
                <a:lnTo>
                  <a:pt x="668830" y="0"/>
                </a:lnTo>
                <a:lnTo>
                  <a:pt x="668830" y="668831"/>
                </a:lnTo>
                <a:lnTo>
                  <a:pt x="0" y="6688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218397" y="536524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-2973730" y="7967117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8" y="0"/>
                </a:lnTo>
                <a:lnTo>
                  <a:pt x="6228618" y="2672643"/>
                </a:lnTo>
                <a:lnTo>
                  <a:pt x="0" y="26726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5937800" y="1148909"/>
            <a:ext cx="6458024" cy="72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Decision</a:t>
            </a: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Input Constellation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23016" y="2001933"/>
            <a:ext cx="6687592" cy="32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Decisions a</a:t>
            </a: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 shaped by many signals, not a single factor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254888" y="4242217"/>
            <a:ext cx="2898168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Internal Signals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694916" y="4485786"/>
            <a:ext cx="2898168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External Signals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160922" y="5275531"/>
            <a:ext cx="3086100" cy="142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Operational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data</a:t>
            </a:r>
          </a:p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Resource availability</a:t>
            </a:r>
          </a:p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Team capability</a:t>
            </a:r>
          </a:p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Organizational culture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600950" y="5519100"/>
            <a:ext cx="3086100" cy="142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Market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trends</a:t>
            </a:r>
          </a:p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Competitive moves</a:t>
            </a:r>
          </a:p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Customer behavior</a:t>
            </a:r>
          </a:p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Regulatory changes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34944" y="4242217"/>
            <a:ext cx="2898168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Cognitive Factors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40978" y="5275531"/>
            <a:ext cx="3086100" cy="142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Bias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assumptions</a:t>
            </a:r>
          </a:p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ast experience</a:t>
            </a:r>
          </a:p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Risk perception</a:t>
            </a:r>
          </a:p>
          <a:p>
            <a:pPr algn="l" marL="388623" indent="-194312" lvl="1">
              <a:lnSpc>
                <a:spcPts val="2880"/>
              </a:lnSpc>
              <a:buFont typeface="Arial"/>
              <a:buChar char="•"/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Time pressure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066" y="4078865"/>
            <a:ext cx="2155070" cy="726545"/>
            <a:chOff x="0" y="0"/>
            <a:chExt cx="567591" cy="1913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7591" cy="191353"/>
            </a:xfrm>
            <a:custGeom>
              <a:avLst/>
              <a:gdLst/>
              <a:ahLst/>
              <a:cxnLst/>
              <a:rect r="r" b="b" t="t" l="l"/>
              <a:pathLst>
                <a:path h="191353" w="567591">
                  <a:moveTo>
                    <a:pt x="0" y="0"/>
                  </a:moveTo>
                  <a:lnTo>
                    <a:pt x="567591" y="0"/>
                  </a:lnTo>
                  <a:lnTo>
                    <a:pt x="567591" y="191353"/>
                  </a:lnTo>
                  <a:lnTo>
                    <a:pt x="0" y="191353"/>
                  </a:lnTo>
                  <a:close/>
                </a:path>
              </a:pathLst>
            </a:custGeom>
            <a:solidFill>
              <a:srgbClr val="AD94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567591" cy="258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79136" y="4078865"/>
            <a:ext cx="2155070" cy="726545"/>
            <a:chOff x="0" y="0"/>
            <a:chExt cx="567591" cy="1913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7591" cy="191353"/>
            </a:xfrm>
            <a:custGeom>
              <a:avLst/>
              <a:gdLst/>
              <a:ahLst/>
              <a:cxnLst/>
              <a:rect r="r" b="b" t="t" l="l"/>
              <a:pathLst>
                <a:path h="191353" w="567591">
                  <a:moveTo>
                    <a:pt x="0" y="0"/>
                  </a:moveTo>
                  <a:lnTo>
                    <a:pt x="567591" y="0"/>
                  </a:lnTo>
                  <a:lnTo>
                    <a:pt x="567591" y="191353"/>
                  </a:lnTo>
                  <a:lnTo>
                    <a:pt x="0" y="191353"/>
                  </a:lnTo>
                  <a:close/>
                </a:path>
              </a:pathLst>
            </a:custGeom>
            <a:solidFill>
              <a:srgbClr val="00B2F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67591" cy="258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934206" y="4078865"/>
            <a:ext cx="2155070" cy="726545"/>
            <a:chOff x="0" y="0"/>
            <a:chExt cx="567591" cy="1913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7591" cy="191353"/>
            </a:xfrm>
            <a:custGeom>
              <a:avLst/>
              <a:gdLst/>
              <a:ahLst/>
              <a:cxnLst/>
              <a:rect r="r" b="b" t="t" l="l"/>
              <a:pathLst>
                <a:path h="191353" w="567591">
                  <a:moveTo>
                    <a:pt x="0" y="0"/>
                  </a:moveTo>
                  <a:lnTo>
                    <a:pt x="567591" y="0"/>
                  </a:lnTo>
                  <a:lnTo>
                    <a:pt x="567591" y="191353"/>
                  </a:lnTo>
                  <a:lnTo>
                    <a:pt x="0" y="191353"/>
                  </a:lnTo>
                  <a:close/>
                </a:path>
              </a:pathLst>
            </a:custGeom>
            <a:solidFill>
              <a:srgbClr val="F9C3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67591" cy="258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89277" y="4078865"/>
            <a:ext cx="2155070" cy="726545"/>
            <a:chOff x="0" y="0"/>
            <a:chExt cx="567591" cy="1913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7591" cy="191353"/>
            </a:xfrm>
            <a:custGeom>
              <a:avLst/>
              <a:gdLst/>
              <a:ahLst/>
              <a:cxnLst/>
              <a:rect r="r" b="b" t="t" l="l"/>
              <a:pathLst>
                <a:path h="191353" w="567591">
                  <a:moveTo>
                    <a:pt x="0" y="0"/>
                  </a:moveTo>
                  <a:lnTo>
                    <a:pt x="567591" y="0"/>
                  </a:lnTo>
                  <a:lnTo>
                    <a:pt x="567591" y="191353"/>
                  </a:lnTo>
                  <a:lnTo>
                    <a:pt x="0" y="191353"/>
                  </a:lnTo>
                  <a:close/>
                </a:path>
              </a:pathLst>
            </a:custGeom>
            <a:solidFill>
              <a:srgbClr val="FF74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67591" cy="258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44347" y="4078865"/>
            <a:ext cx="2155070" cy="726545"/>
            <a:chOff x="0" y="0"/>
            <a:chExt cx="567591" cy="1913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7591" cy="191353"/>
            </a:xfrm>
            <a:custGeom>
              <a:avLst/>
              <a:gdLst/>
              <a:ahLst/>
              <a:cxnLst/>
              <a:rect r="r" b="b" t="t" l="l"/>
              <a:pathLst>
                <a:path h="191353" w="567591">
                  <a:moveTo>
                    <a:pt x="0" y="0"/>
                  </a:moveTo>
                  <a:lnTo>
                    <a:pt x="567591" y="0"/>
                  </a:lnTo>
                  <a:lnTo>
                    <a:pt x="567591" y="191353"/>
                  </a:lnTo>
                  <a:lnTo>
                    <a:pt x="0" y="191353"/>
                  </a:ln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67591" cy="258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99418" y="4078865"/>
            <a:ext cx="2155070" cy="726545"/>
            <a:chOff x="0" y="0"/>
            <a:chExt cx="567591" cy="1913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7591" cy="191353"/>
            </a:xfrm>
            <a:custGeom>
              <a:avLst/>
              <a:gdLst/>
              <a:ahLst/>
              <a:cxnLst/>
              <a:rect r="r" b="b" t="t" l="l"/>
              <a:pathLst>
                <a:path h="191353" w="567591">
                  <a:moveTo>
                    <a:pt x="0" y="0"/>
                  </a:moveTo>
                  <a:lnTo>
                    <a:pt x="567591" y="0"/>
                  </a:lnTo>
                  <a:lnTo>
                    <a:pt x="567591" y="191353"/>
                  </a:lnTo>
                  <a:lnTo>
                    <a:pt x="0" y="191353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567591" cy="258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554488" y="4078865"/>
            <a:ext cx="2155070" cy="726545"/>
            <a:chOff x="0" y="0"/>
            <a:chExt cx="567591" cy="1913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7591" cy="191353"/>
            </a:xfrm>
            <a:custGeom>
              <a:avLst/>
              <a:gdLst/>
              <a:ahLst/>
              <a:cxnLst/>
              <a:rect r="r" b="b" t="t" l="l"/>
              <a:pathLst>
                <a:path h="191353" w="567591">
                  <a:moveTo>
                    <a:pt x="0" y="0"/>
                  </a:moveTo>
                  <a:lnTo>
                    <a:pt x="567591" y="0"/>
                  </a:lnTo>
                  <a:lnTo>
                    <a:pt x="567591" y="191353"/>
                  </a:lnTo>
                  <a:lnTo>
                    <a:pt x="0" y="191353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567591" cy="258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56310" y="4078865"/>
            <a:ext cx="535511" cy="726545"/>
            <a:chOff x="0" y="0"/>
            <a:chExt cx="324294" cy="4399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4294" cy="439980"/>
            </a:xfrm>
            <a:custGeom>
              <a:avLst/>
              <a:gdLst/>
              <a:ahLst/>
              <a:cxnLst/>
              <a:rect r="r" b="b" t="t" l="l"/>
              <a:pathLst>
                <a:path h="439980" w="324294">
                  <a:moveTo>
                    <a:pt x="162147" y="0"/>
                  </a:moveTo>
                  <a:cubicBezTo>
                    <a:pt x="72596" y="0"/>
                    <a:pt x="0" y="98493"/>
                    <a:pt x="0" y="219990"/>
                  </a:cubicBezTo>
                  <a:cubicBezTo>
                    <a:pt x="0" y="341487"/>
                    <a:pt x="72596" y="439980"/>
                    <a:pt x="162147" y="439980"/>
                  </a:cubicBezTo>
                  <a:cubicBezTo>
                    <a:pt x="251698" y="439980"/>
                    <a:pt x="324294" y="341487"/>
                    <a:pt x="324294" y="219990"/>
                  </a:cubicBezTo>
                  <a:cubicBezTo>
                    <a:pt x="324294" y="98493"/>
                    <a:pt x="251698" y="0"/>
                    <a:pt x="162147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30403" y="-25427"/>
              <a:ext cx="263489" cy="42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441803" y="4078865"/>
            <a:ext cx="535511" cy="726545"/>
            <a:chOff x="0" y="0"/>
            <a:chExt cx="324294" cy="4399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4294" cy="439980"/>
            </a:xfrm>
            <a:custGeom>
              <a:avLst/>
              <a:gdLst/>
              <a:ahLst/>
              <a:cxnLst/>
              <a:rect r="r" b="b" t="t" l="l"/>
              <a:pathLst>
                <a:path h="439980" w="324294">
                  <a:moveTo>
                    <a:pt x="162147" y="0"/>
                  </a:moveTo>
                  <a:cubicBezTo>
                    <a:pt x="72596" y="0"/>
                    <a:pt x="0" y="98493"/>
                    <a:pt x="0" y="219990"/>
                  </a:cubicBezTo>
                  <a:cubicBezTo>
                    <a:pt x="0" y="341487"/>
                    <a:pt x="72596" y="439980"/>
                    <a:pt x="162147" y="439980"/>
                  </a:cubicBezTo>
                  <a:cubicBezTo>
                    <a:pt x="251698" y="439980"/>
                    <a:pt x="324294" y="341487"/>
                    <a:pt x="324294" y="219990"/>
                  </a:cubicBezTo>
                  <a:cubicBezTo>
                    <a:pt x="324294" y="98493"/>
                    <a:pt x="251698" y="0"/>
                    <a:pt x="162147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30403" y="-25427"/>
              <a:ext cx="263489" cy="42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594193" y="1528717"/>
            <a:ext cx="7145238" cy="72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Information Distillation Pipeline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50365" y="2381742"/>
            <a:ext cx="3632895" cy="32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How </a:t>
            </a: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raw data becomes insight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99254" y="8320059"/>
            <a:ext cx="5335116" cy="32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Side notes sho</a:t>
            </a: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wing data loss and quality gain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16665" y="5805310"/>
            <a:ext cx="1369872" cy="69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Raw Data Streams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71735" y="5805310"/>
            <a:ext cx="1369872" cy="69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Noise &amp; Outliers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16257" y="5805310"/>
            <a:ext cx="1590969" cy="69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Contextual Framing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41172" y="5805310"/>
            <a:ext cx="1651280" cy="69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Pattern Recognition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636947" y="5805310"/>
            <a:ext cx="1369872" cy="69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Signal Validation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92017" y="5805310"/>
            <a:ext cx="1369872" cy="69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Insight Synthesis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822243" y="5805310"/>
            <a:ext cx="1619560" cy="69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Confidence Scoring</a:t>
            </a:r>
          </a:p>
        </p:txBody>
      </p:sp>
      <p:sp>
        <p:nvSpPr>
          <p:cNvPr name="AutoShape 39" id="39"/>
          <p:cNvSpPr/>
          <p:nvPr/>
        </p:nvSpPr>
        <p:spPr>
          <a:xfrm flipH="true">
            <a:off x="2682551" y="5039918"/>
            <a:ext cx="0" cy="597558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AutoShape 40" id="40"/>
          <p:cNvSpPr/>
          <p:nvPr/>
        </p:nvSpPr>
        <p:spPr>
          <a:xfrm flipH="true">
            <a:off x="4837621" y="5039918"/>
            <a:ext cx="0" cy="597558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AutoShape 41" id="41"/>
          <p:cNvSpPr/>
          <p:nvPr/>
        </p:nvSpPr>
        <p:spPr>
          <a:xfrm flipH="true">
            <a:off x="6992692" y="5039918"/>
            <a:ext cx="0" cy="597558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AutoShape 42" id="42"/>
          <p:cNvSpPr/>
          <p:nvPr/>
        </p:nvSpPr>
        <p:spPr>
          <a:xfrm flipH="true">
            <a:off x="9147762" y="5039918"/>
            <a:ext cx="0" cy="597558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AutoShape 43" id="43"/>
          <p:cNvSpPr/>
          <p:nvPr/>
        </p:nvSpPr>
        <p:spPr>
          <a:xfrm flipH="true">
            <a:off x="11302833" y="5039918"/>
            <a:ext cx="0" cy="597558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AutoShape 44" id="44"/>
          <p:cNvSpPr/>
          <p:nvPr/>
        </p:nvSpPr>
        <p:spPr>
          <a:xfrm flipH="true">
            <a:off x="13457903" y="5039918"/>
            <a:ext cx="0" cy="597558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AutoShape 45" id="45"/>
          <p:cNvSpPr/>
          <p:nvPr/>
        </p:nvSpPr>
        <p:spPr>
          <a:xfrm flipH="true">
            <a:off x="15612973" y="5039918"/>
            <a:ext cx="0" cy="597558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14218397" y="536524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-2973730" y="7967117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8" y="0"/>
                </a:lnTo>
                <a:lnTo>
                  <a:pt x="6228618" y="2672643"/>
                </a:lnTo>
                <a:lnTo>
                  <a:pt x="0" y="2672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095165" y="6603308"/>
            <a:ext cx="8598420" cy="0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750771" y="4761157"/>
            <a:ext cx="1685765" cy="1551139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8301117" y="4745025"/>
            <a:ext cx="1685765" cy="1551139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750771" y="4354739"/>
            <a:ext cx="8598420" cy="0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569203" y="3639947"/>
            <a:ext cx="1473427" cy="147342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D94E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6037101" y="4660812"/>
            <a:ext cx="1619851" cy="1619851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0587204" y="4660812"/>
            <a:ext cx="1619851" cy="1619851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069954" y="5844672"/>
            <a:ext cx="1473427" cy="147342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56911" y="3639947"/>
            <a:ext cx="1473427" cy="147342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C3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57662" y="5844672"/>
            <a:ext cx="1473427" cy="147342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4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2851464" y="4728893"/>
            <a:ext cx="1685765" cy="1551139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1744619" y="3639947"/>
            <a:ext cx="1473427" cy="147342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2F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45370" y="5844672"/>
            <a:ext cx="1473427" cy="147342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082505" y="8439987"/>
            <a:ext cx="201645" cy="201645"/>
            <a:chOff x="0" y="0"/>
            <a:chExt cx="53108" cy="531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108" cy="53108"/>
            </a:xfrm>
            <a:custGeom>
              <a:avLst/>
              <a:gdLst/>
              <a:ahLst/>
              <a:cxnLst/>
              <a:rect r="r" b="b" t="t" l="l"/>
              <a:pathLst>
                <a:path h="53108" w="53108">
                  <a:moveTo>
                    <a:pt x="0" y="0"/>
                  </a:moveTo>
                  <a:lnTo>
                    <a:pt x="53108" y="0"/>
                  </a:lnTo>
                  <a:lnTo>
                    <a:pt x="53108" y="53108"/>
                  </a:lnTo>
                  <a:lnTo>
                    <a:pt x="0" y="53108"/>
                  </a:lnTo>
                  <a:close/>
                </a:path>
              </a:pathLst>
            </a:custGeom>
            <a:solidFill>
              <a:srgbClr val="AD94E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53108" cy="11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868277" y="8439987"/>
            <a:ext cx="201645" cy="201645"/>
            <a:chOff x="0" y="0"/>
            <a:chExt cx="53108" cy="531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108" cy="53108"/>
            </a:xfrm>
            <a:custGeom>
              <a:avLst/>
              <a:gdLst/>
              <a:ahLst/>
              <a:cxnLst/>
              <a:rect r="r" b="b" t="t" l="l"/>
              <a:pathLst>
                <a:path h="53108" w="53108">
                  <a:moveTo>
                    <a:pt x="0" y="0"/>
                  </a:moveTo>
                  <a:lnTo>
                    <a:pt x="53108" y="0"/>
                  </a:lnTo>
                  <a:lnTo>
                    <a:pt x="53108" y="53108"/>
                  </a:lnTo>
                  <a:lnTo>
                    <a:pt x="0" y="53108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53108" cy="11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544611" y="8439987"/>
            <a:ext cx="201645" cy="201645"/>
            <a:chOff x="0" y="0"/>
            <a:chExt cx="53108" cy="531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108" cy="53108"/>
            </a:xfrm>
            <a:custGeom>
              <a:avLst/>
              <a:gdLst/>
              <a:ahLst/>
              <a:cxnLst/>
              <a:rect r="r" b="b" t="t" l="l"/>
              <a:pathLst>
                <a:path h="53108" w="53108">
                  <a:moveTo>
                    <a:pt x="0" y="0"/>
                  </a:moveTo>
                  <a:lnTo>
                    <a:pt x="53108" y="0"/>
                  </a:lnTo>
                  <a:lnTo>
                    <a:pt x="53108" y="53108"/>
                  </a:lnTo>
                  <a:lnTo>
                    <a:pt x="0" y="53108"/>
                  </a:lnTo>
                  <a:close/>
                </a:path>
              </a:pathLst>
            </a:custGeom>
            <a:solidFill>
              <a:srgbClr val="F9C3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53108" cy="11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20525" y="8439987"/>
            <a:ext cx="201645" cy="201645"/>
            <a:chOff x="0" y="0"/>
            <a:chExt cx="53108" cy="531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108" cy="53108"/>
            </a:xfrm>
            <a:custGeom>
              <a:avLst/>
              <a:gdLst/>
              <a:ahLst/>
              <a:cxnLst/>
              <a:rect r="r" b="b" t="t" l="l"/>
              <a:pathLst>
                <a:path h="53108" w="53108">
                  <a:moveTo>
                    <a:pt x="0" y="0"/>
                  </a:moveTo>
                  <a:lnTo>
                    <a:pt x="53108" y="0"/>
                  </a:lnTo>
                  <a:lnTo>
                    <a:pt x="53108" y="53108"/>
                  </a:lnTo>
                  <a:lnTo>
                    <a:pt x="0" y="53108"/>
                  </a:lnTo>
                  <a:close/>
                </a:path>
              </a:pathLst>
            </a:custGeom>
            <a:solidFill>
              <a:srgbClr val="FF74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53108" cy="11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96439" y="8439987"/>
            <a:ext cx="201645" cy="201645"/>
            <a:chOff x="0" y="0"/>
            <a:chExt cx="53108" cy="531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108" cy="53108"/>
            </a:xfrm>
            <a:custGeom>
              <a:avLst/>
              <a:gdLst/>
              <a:ahLst/>
              <a:cxnLst/>
              <a:rect r="r" b="b" t="t" l="l"/>
              <a:pathLst>
                <a:path h="53108" w="53108">
                  <a:moveTo>
                    <a:pt x="0" y="0"/>
                  </a:moveTo>
                  <a:lnTo>
                    <a:pt x="53108" y="0"/>
                  </a:lnTo>
                  <a:lnTo>
                    <a:pt x="53108" y="53108"/>
                  </a:lnTo>
                  <a:lnTo>
                    <a:pt x="0" y="53108"/>
                  </a:lnTo>
                  <a:close/>
                </a:path>
              </a:pathLst>
            </a:custGeom>
            <a:solidFill>
              <a:srgbClr val="00B2F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53108" cy="11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741609" y="8439987"/>
            <a:ext cx="201645" cy="201645"/>
            <a:chOff x="0" y="0"/>
            <a:chExt cx="53108" cy="531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108" cy="53108"/>
            </a:xfrm>
            <a:custGeom>
              <a:avLst/>
              <a:gdLst/>
              <a:ahLst/>
              <a:cxnLst/>
              <a:rect r="r" b="b" t="t" l="l"/>
              <a:pathLst>
                <a:path h="53108" w="53108">
                  <a:moveTo>
                    <a:pt x="0" y="0"/>
                  </a:moveTo>
                  <a:lnTo>
                    <a:pt x="53108" y="0"/>
                  </a:lnTo>
                  <a:lnTo>
                    <a:pt x="53108" y="53108"/>
                  </a:lnTo>
                  <a:lnTo>
                    <a:pt x="0" y="53108"/>
                  </a:ln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53108" cy="11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3012532" y="4158489"/>
            <a:ext cx="586769" cy="436343"/>
          </a:xfrm>
          <a:custGeom>
            <a:avLst/>
            <a:gdLst/>
            <a:ahLst/>
            <a:cxnLst/>
            <a:rect r="r" b="b" t="t" l="l"/>
            <a:pathLst>
              <a:path h="436343" w="586769">
                <a:moveTo>
                  <a:pt x="0" y="0"/>
                </a:moveTo>
                <a:lnTo>
                  <a:pt x="586769" y="0"/>
                </a:lnTo>
                <a:lnTo>
                  <a:pt x="586769" y="436343"/>
                </a:lnTo>
                <a:lnTo>
                  <a:pt x="0" y="436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5539564" y="6260059"/>
            <a:ext cx="534206" cy="642654"/>
          </a:xfrm>
          <a:custGeom>
            <a:avLst/>
            <a:gdLst/>
            <a:ahLst/>
            <a:cxnLst/>
            <a:rect r="r" b="b" t="t" l="l"/>
            <a:pathLst>
              <a:path h="642654" w="534206">
                <a:moveTo>
                  <a:pt x="0" y="0"/>
                </a:moveTo>
                <a:lnTo>
                  <a:pt x="534206" y="0"/>
                </a:lnTo>
                <a:lnTo>
                  <a:pt x="534206" y="642653"/>
                </a:lnTo>
                <a:lnTo>
                  <a:pt x="0" y="642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7570904" y="4141490"/>
            <a:ext cx="600481" cy="470342"/>
          </a:xfrm>
          <a:custGeom>
            <a:avLst/>
            <a:gdLst/>
            <a:ahLst/>
            <a:cxnLst/>
            <a:rect r="r" b="b" t="t" l="l"/>
            <a:pathLst>
              <a:path h="470342" w="600481">
                <a:moveTo>
                  <a:pt x="0" y="0"/>
                </a:moveTo>
                <a:lnTo>
                  <a:pt x="600481" y="0"/>
                </a:lnTo>
                <a:lnTo>
                  <a:pt x="600481" y="470342"/>
                </a:lnTo>
                <a:lnTo>
                  <a:pt x="0" y="4703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416" t="-22504" r="-8090" b="-27514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0091101" y="6260059"/>
            <a:ext cx="606548" cy="606548"/>
          </a:xfrm>
          <a:custGeom>
            <a:avLst/>
            <a:gdLst/>
            <a:ahLst/>
            <a:cxnLst/>
            <a:rect r="r" b="b" t="t" l="l"/>
            <a:pathLst>
              <a:path h="606548" w="606548">
                <a:moveTo>
                  <a:pt x="0" y="0"/>
                </a:moveTo>
                <a:lnTo>
                  <a:pt x="606548" y="0"/>
                </a:lnTo>
                <a:lnTo>
                  <a:pt x="606548" y="606547"/>
                </a:lnTo>
                <a:lnTo>
                  <a:pt x="0" y="6065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151479" y="4046807"/>
            <a:ext cx="659708" cy="659708"/>
          </a:xfrm>
          <a:custGeom>
            <a:avLst/>
            <a:gdLst/>
            <a:ahLst/>
            <a:cxnLst/>
            <a:rect r="r" b="b" t="t" l="l"/>
            <a:pathLst>
              <a:path h="659708" w="659708">
                <a:moveTo>
                  <a:pt x="0" y="0"/>
                </a:moveTo>
                <a:lnTo>
                  <a:pt x="659708" y="0"/>
                </a:lnTo>
                <a:lnTo>
                  <a:pt x="659708" y="659708"/>
                </a:lnTo>
                <a:lnTo>
                  <a:pt x="0" y="6597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4639078" y="6226032"/>
            <a:ext cx="667176" cy="710707"/>
          </a:xfrm>
          <a:custGeom>
            <a:avLst/>
            <a:gdLst/>
            <a:ahLst/>
            <a:cxnLst/>
            <a:rect r="r" b="b" t="t" l="l"/>
            <a:pathLst>
              <a:path h="710707" w="667176">
                <a:moveTo>
                  <a:pt x="0" y="0"/>
                </a:moveTo>
                <a:lnTo>
                  <a:pt x="667175" y="0"/>
                </a:lnTo>
                <a:lnTo>
                  <a:pt x="667175" y="710707"/>
                </a:lnTo>
                <a:lnTo>
                  <a:pt x="0" y="7107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5957985" y="1341110"/>
            <a:ext cx="6417655" cy="72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ognitive Bias Interference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288415" y="2194135"/>
            <a:ext cx="3756794" cy="32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Why </a:t>
            </a: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rational decisions often fail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36979" y="8877226"/>
            <a:ext cx="2292697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Confirmation Bias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888886" y="8877226"/>
            <a:ext cx="2160426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Anchoring Effect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600244" y="8877226"/>
            <a:ext cx="2090380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Loss Aversion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276158" y="8877226"/>
            <a:ext cx="2090380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Status Quo Bias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952072" y="8877226"/>
            <a:ext cx="2090380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Overconfidence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653194" y="8877226"/>
            <a:ext cx="2580122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Availability Heuristic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4218397" y="536524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-2770490" y="536524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949" y="5100827"/>
            <a:ext cx="3675890" cy="1433752"/>
            <a:chOff x="0" y="0"/>
            <a:chExt cx="647700" cy="252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72" y="4012"/>
              <a:ext cx="618556" cy="244607"/>
            </a:xfrm>
            <a:custGeom>
              <a:avLst/>
              <a:gdLst/>
              <a:ahLst/>
              <a:cxnLst/>
              <a:rect r="r" b="b" t="t" l="l"/>
              <a:pathLst>
                <a:path h="244607" w="618556">
                  <a:moveTo>
                    <a:pt x="329145" y="3737"/>
                  </a:moveTo>
                  <a:lnTo>
                    <a:pt x="613261" y="114554"/>
                  </a:lnTo>
                  <a:cubicBezTo>
                    <a:pt x="616454" y="115800"/>
                    <a:pt x="618556" y="118876"/>
                    <a:pt x="618556" y="122303"/>
                  </a:cubicBezTo>
                  <a:cubicBezTo>
                    <a:pt x="618556" y="125730"/>
                    <a:pt x="616454" y="128807"/>
                    <a:pt x="613261" y="130052"/>
                  </a:cubicBezTo>
                  <a:lnTo>
                    <a:pt x="329145" y="240869"/>
                  </a:lnTo>
                  <a:cubicBezTo>
                    <a:pt x="316369" y="245852"/>
                    <a:pt x="302187" y="245852"/>
                    <a:pt x="289411" y="240869"/>
                  </a:cubicBezTo>
                  <a:lnTo>
                    <a:pt x="5295" y="130052"/>
                  </a:lnTo>
                  <a:cubicBezTo>
                    <a:pt x="2102" y="128807"/>
                    <a:pt x="0" y="125730"/>
                    <a:pt x="0" y="122303"/>
                  </a:cubicBezTo>
                  <a:cubicBezTo>
                    <a:pt x="0" y="118876"/>
                    <a:pt x="2102" y="115800"/>
                    <a:pt x="5295" y="114554"/>
                  </a:cubicBezTo>
                  <a:lnTo>
                    <a:pt x="289411" y="3737"/>
                  </a:lnTo>
                  <a:cubicBezTo>
                    <a:pt x="302187" y="-1246"/>
                    <a:pt x="316369" y="-1246"/>
                    <a:pt x="329145" y="3737"/>
                  </a:cubicBezTo>
                  <a:close/>
                </a:path>
              </a:pathLst>
            </a:custGeom>
            <a:solidFill>
              <a:srgbClr val="00B2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-11220"/>
              <a:ext cx="342900" cy="208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981161" y="5100827"/>
            <a:ext cx="3675890" cy="1433752"/>
            <a:chOff x="0" y="0"/>
            <a:chExt cx="647700" cy="2526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572" y="4012"/>
              <a:ext cx="618556" cy="244607"/>
            </a:xfrm>
            <a:custGeom>
              <a:avLst/>
              <a:gdLst/>
              <a:ahLst/>
              <a:cxnLst/>
              <a:rect r="r" b="b" t="t" l="l"/>
              <a:pathLst>
                <a:path h="244607" w="618556">
                  <a:moveTo>
                    <a:pt x="329145" y="3737"/>
                  </a:moveTo>
                  <a:lnTo>
                    <a:pt x="613261" y="114554"/>
                  </a:lnTo>
                  <a:cubicBezTo>
                    <a:pt x="616454" y="115800"/>
                    <a:pt x="618556" y="118876"/>
                    <a:pt x="618556" y="122303"/>
                  </a:cubicBezTo>
                  <a:cubicBezTo>
                    <a:pt x="618556" y="125730"/>
                    <a:pt x="616454" y="128807"/>
                    <a:pt x="613261" y="130052"/>
                  </a:cubicBezTo>
                  <a:lnTo>
                    <a:pt x="329145" y="240869"/>
                  </a:lnTo>
                  <a:cubicBezTo>
                    <a:pt x="316369" y="245852"/>
                    <a:pt x="302187" y="245852"/>
                    <a:pt x="289411" y="240869"/>
                  </a:cubicBezTo>
                  <a:lnTo>
                    <a:pt x="5295" y="130052"/>
                  </a:lnTo>
                  <a:cubicBezTo>
                    <a:pt x="2102" y="128807"/>
                    <a:pt x="0" y="125730"/>
                    <a:pt x="0" y="122303"/>
                  </a:cubicBezTo>
                  <a:cubicBezTo>
                    <a:pt x="0" y="118876"/>
                    <a:pt x="2102" y="115800"/>
                    <a:pt x="5295" y="114554"/>
                  </a:cubicBezTo>
                  <a:lnTo>
                    <a:pt x="289411" y="3737"/>
                  </a:lnTo>
                  <a:cubicBezTo>
                    <a:pt x="302187" y="-1246"/>
                    <a:pt x="316369" y="-1246"/>
                    <a:pt x="329145" y="3737"/>
                  </a:cubicBezTo>
                  <a:close/>
                </a:path>
              </a:pathLst>
            </a:custGeom>
            <a:solidFill>
              <a:srgbClr val="F9C3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52400" y="-11220"/>
              <a:ext cx="342900" cy="208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68502" y="6677454"/>
            <a:ext cx="3675890" cy="1433752"/>
            <a:chOff x="0" y="0"/>
            <a:chExt cx="647700" cy="2526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4572" y="4012"/>
              <a:ext cx="618556" cy="244607"/>
            </a:xfrm>
            <a:custGeom>
              <a:avLst/>
              <a:gdLst/>
              <a:ahLst/>
              <a:cxnLst/>
              <a:rect r="r" b="b" t="t" l="l"/>
              <a:pathLst>
                <a:path h="244607" w="618556">
                  <a:moveTo>
                    <a:pt x="329145" y="3737"/>
                  </a:moveTo>
                  <a:lnTo>
                    <a:pt x="613261" y="114554"/>
                  </a:lnTo>
                  <a:cubicBezTo>
                    <a:pt x="616454" y="115800"/>
                    <a:pt x="618556" y="118876"/>
                    <a:pt x="618556" y="122303"/>
                  </a:cubicBezTo>
                  <a:cubicBezTo>
                    <a:pt x="618556" y="125730"/>
                    <a:pt x="616454" y="128807"/>
                    <a:pt x="613261" y="130052"/>
                  </a:cubicBezTo>
                  <a:lnTo>
                    <a:pt x="329145" y="240869"/>
                  </a:lnTo>
                  <a:cubicBezTo>
                    <a:pt x="316369" y="245852"/>
                    <a:pt x="302187" y="245852"/>
                    <a:pt x="289411" y="240869"/>
                  </a:cubicBezTo>
                  <a:lnTo>
                    <a:pt x="5295" y="130052"/>
                  </a:lnTo>
                  <a:cubicBezTo>
                    <a:pt x="2102" y="128807"/>
                    <a:pt x="0" y="125730"/>
                    <a:pt x="0" y="122303"/>
                  </a:cubicBezTo>
                  <a:cubicBezTo>
                    <a:pt x="0" y="118876"/>
                    <a:pt x="2102" y="115800"/>
                    <a:pt x="5295" y="114554"/>
                  </a:cubicBezTo>
                  <a:lnTo>
                    <a:pt x="289411" y="3737"/>
                  </a:lnTo>
                  <a:cubicBezTo>
                    <a:pt x="302187" y="-1246"/>
                    <a:pt x="316369" y="-1246"/>
                    <a:pt x="329145" y="3737"/>
                  </a:cubicBezTo>
                  <a:close/>
                </a:path>
              </a:pathLst>
            </a:custGeom>
            <a:solidFill>
              <a:srgbClr val="FF74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2400" y="-11220"/>
              <a:ext cx="342900" cy="208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43608" y="6677454"/>
            <a:ext cx="3675890" cy="1433752"/>
            <a:chOff x="0" y="0"/>
            <a:chExt cx="647700" cy="2526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4572" y="4012"/>
              <a:ext cx="618556" cy="244607"/>
            </a:xfrm>
            <a:custGeom>
              <a:avLst/>
              <a:gdLst/>
              <a:ahLst/>
              <a:cxnLst/>
              <a:rect r="r" b="b" t="t" l="l"/>
              <a:pathLst>
                <a:path h="244607" w="618556">
                  <a:moveTo>
                    <a:pt x="329145" y="3737"/>
                  </a:moveTo>
                  <a:lnTo>
                    <a:pt x="613261" y="114554"/>
                  </a:lnTo>
                  <a:cubicBezTo>
                    <a:pt x="616454" y="115800"/>
                    <a:pt x="618556" y="118876"/>
                    <a:pt x="618556" y="122303"/>
                  </a:cubicBezTo>
                  <a:cubicBezTo>
                    <a:pt x="618556" y="125730"/>
                    <a:pt x="616454" y="128807"/>
                    <a:pt x="613261" y="130052"/>
                  </a:cubicBezTo>
                  <a:lnTo>
                    <a:pt x="329145" y="240869"/>
                  </a:lnTo>
                  <a:cubicBezTo>
                    <a:pt x="316369" y="245852"/>
                    <a:pt x="302187" y="245852"/>
                    <a:pt x="289411" y="240869"/>
                  </a:cubicBezTo>
                  <a:lnTo>
                    <a:pt x="5295" y="130052"/>
                  </a:lnTo>
                  <a:cubicBezTo>
                    <a:pt x="2102" y="128807"/>
                    <a:pt x="0" y="125730"/>
                    <a:pt x="0" y="122303"/>
                  </a:cubicBezTo>
                  <a:cubicBezTo>
                    <a:pt x="0" y="118876"/>
                    <a:pt x="2102" y="115800"/>
                    <a:pt x="5295" y="114554"/>
                  </a:cubicBezTo>
                  <a:lnTo>
                    <a:pt x="289411" y="3737"/>
                  </a:lnTo>
                  <a:cubicBezTo>
                    <a:pt x="302187" y="-1246"/>
                    <a:pt x="316369" y="-1246"/>
                    <a:pt x="329145" y="3737"/>
                  </a:cubicBezTo>
                  <a:close/>
                </a:path>
              </a:pathLst>
            </a:custGeom>
            <a:solidFill>
              <a:srgbClr val="AD94E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52400" y="-11220"/>
              <a:ext cx="342900" cy="208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06055" y="5100827"/>
            <a:ext cx="3675890" cy="1433752"/>
            <a:chOff x="0" y="0"/>
            <a:chExt cx="647700" cy="2526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4572" y="4012"/>
              <a:ext cx="618556" cy="244607"/>
            </a:xfrm>
            <a:custGeom>
              <a:avLst/>
              <a:gdLst/>
              <a:ahLst/>
              <a:cxnLst/>
              <a:rect r="r" b="b" t="t" l="l"/>
              <a:pathLst>
                <a:path h="244607" w="618556">
                  <a:moveTo>
                    <a:pt x="329145" y="3737"/>
                  </a:moveTo>
                  <a:lnTo>
                    <a:pt x="613261" y="114554"/>
                  </a:lnTo>
                  <a:cubicBezTo>
                    <a:pt x="616454" y="115800"/>
                    <a:pt x="618556" y="118876"/>
                    <a:pt x="618556" y="122303"/>
                  </a:cubicBezTo>
                  <a:cubicBezTo>
                    <a:pt x="618556" y="125730"/>
                    <a:pt x="616454" y="128807"/>
                    <a:pt x="613261" y="130052"/>
                  </a:cubicBezTo>
                  <a:lnTo>
                    <a:pt x="329145" y="240869"/>
                  </a:lnTo>
                  <a:cubicBezTo>
                    <a:pt x="316369" y="245852"/>
                    <a:pt x="302187" y="245852"/>
                    <a:pt x="289411" y="240869"/>
                  </a:cubicBezTo>
                  <a:lnTo>
                    <a:pt x="5295" y="130052"/>
                  </a:lnTo>
                  <a:cubicBezTo>
                    <a:pt x="2102" y="128807"/>
                    <a:pt x="0" y="125730"/>
                    <a:pt x="0" y="122303"/>
                  </a:cubicBezTo>
                  <a:cubicBezTo>
                    <a:pt x="0" y="118876"/>
                    <a:pt x="2102" y="115800"/>
                    <a:pt x="5295" y="114554"/>
                  </a:cubicBezTo>
                  <a:lnTo>
                    <a:pt x="289411" y="3737"/>
                  </a:lnTo>
                  <a:cubicBezTo>
                    <a:pt x="302187" y="-1246"/>
                    <a:pt x="316369" y="-1246"/>
                    <a:pt x="329145" y="3737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52400" y="-11220"/>
              <a:ext cx="342900" cy="208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4468502" y="6278425"/>
            <a:ext cx="1046835" cy="547494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>
            <a:off x="7285145" y="6319387"/>
            <a:ext cx="834723" cy="552116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H="true">
            <a:off x="12923293" y="6319387"/>
            <a:ext cx="834723" cy="552116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0109210" y="6299526"/>
            <a:ext cx="1046835" cy="547494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3175510" y="5522148"/>
            <a:ext cx="586769" cy="436343"/>
          </a:xfrm>
          <a:custGeom>
            <a:avLst/>
            <a:gdLst/>
            <a:ahLst/>
            <a:cxnLst/>
            <a:rect r="r" b="b" t="t" l="l"/>
            <a:pathLst>
              <a:path h="436343" w="586769">
                <a:moveTo>
                  <a:pt x="0" y="0"/>
                </a:moveTo>
                <a:lnTo>
                  <a:pt x="586768" y="0"/>
                </a:lnTo>
                <a:lnTo>
                  <a:pt x="586768" y="436342"/>
                </a:lnTo>
                <a:lnTo>
                  <a:pt x="0" y="436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021483" y="7048347"/>
            <a:ext cx="569928" cy="691965"/>
          </a:xfrm>
          <a:custGeom>
            <a:avLst/>
            <a:gdLst/>
            <a:ahLst/>
            <a:cxnLst/>
            <a:rect r="r" b="b" t="t" l="l"/>
            <a:pathLst>
              <a:path h="691965" w="569928">
                <a:moveTo>
                  <a:pt x="0" y="0"/>
                </a:moveTo>
                <a:lnTo>
                  <a:pt x="569928" y="0"/>
                </a:lnTo>
                <a:lnTo>
                  <a:pt x="569928" y="691965"/>
                </a:lnTo>
                <a:lnTo>
                  <a:pt x="0" y="691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849195" y="5393489"/>
            <a:ext cx="589610" cy="693659"/>
          </a:xfrm>
          <a:custGeom>
            <a:avLst/>
            <a:gdLst/>
            <a:ahLst/>
            <a:cxnLst/>
            <a:rect r="r" b="b" t="t" l="l"/>
            <a:pathLst>
              <a:path h="693659" w="589610">
                <a:moveTo>
                  <a:pt x="0" y="0"/>
                </a:moveTo>
                <a:lnTo>
                  <a:pt x="589610" y="0"/>
                </a:lnTo>
                <a:lnTo>
                  <a:pt x="589610" y="693659"/>
                </a:lnTo>
                <a:lnTo>
                  <a:pt x="0" y="693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636789" y="7001052"/>
            <a:ext cx="689528" cy="739260"/>
          </a:xfrm>
          <a:custGeom>
            <a:avLst/>
            <a:gdLst/>
            <a:ahLst/>
            <a:cxnLst/>
            <a:rect r="r" b="b" t="t" l="l"/>
            <a:pathLst>
              <a:path h="739260" w="689528">
                <a:moveTo>
                  <a:pt x="0" y="0"/>
                </a:moveTo>
                <a:lnTo>
                  <a:pt x="689528" y="0"/>
                </a:lnTo>
                <a:lnTo>
                  <a:pt x="689528" y="739260"/>
                </a:lnTo>
                <a:lnTo>
                  <a:pt x="0" y="7392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546845" y="5465935"/>
            <a:ext cx="572265" cy="576728"/>
          </a:xfrm>
          <a:custGeom>
            <a:avLst/>
            <a:gdLst/>
            <a:ahLst/>
            <a:cxnLst/>
            <a:rect r="r" b="b" t="t" l="l"/>
            <a:pathLst>
              <a:path h="576728" w="572265">
                <a:moveTo>
                  <a:pt x="0" y="0"/>
                </a:moveTo>
                <a:lnTo>
                  <a:pt x="572265" y="0"/>
                </a:lnTo>
                <a:lnTo>
                  <a:pt x="572265" y="576728"/>
                </a:lnTo>
                <a:lnTo>
                  <a:pt x="0" y="5767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3053109" y="-307622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546845" y="7921978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431444" y="1341110"/>
            <a:ext cx="5470736" cy="72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Tr</a:t>
            </a: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ade-Off Density Field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54941" y="2194135"/>
            <a:ext cx="4223742" cy="32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Every </a:t>
            </a: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decision sacrifices something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22545" y="4301576"/>
            <a:ext cx="2292697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Confirmation Bias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98359" y="8463630"/>
            <a:ext cx="3216176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Short-Term vs Long-Term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68990" y="4301576"/>
            <a:ext cx="1950021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Cost vs Quality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94382" y="8463630"/>
            <a:ext cx="2774342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Innovation vs Stability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47835" y="4301576"/>
            <a:ext cx="2542542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Flexibility vs Control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6019100" y="1924748"/>
            <a:ext cx="6560514" cy="6437504"/>
          </a:xfrm>
          <a:custGeom>
            <a:avLst/>
            <a:gdLst/>
            <a:ahLst/>
            <a:cxnLst/>
            <a:rect r="r" b="b" t="t" l="l"/>
            <a:pathLst>
              <a:path h="6437504" w="6560514">
                <a:moveTo>
                  <a:pt x="0" y="0"/>
                </a:moveTo>
                <a:lnTo>
                  <a:pt x="6560514" y="0"/>
                </a:lnTo>
                <a:lnTo>
                  <a:pt x="6560514" y="6437504"/>
                </a:lnTo>
                <a:lnTo>
                  <a:pt x="0" y="6437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1389" y="3708550"/>
            <a:ext cx="3287792" cy="194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spc="-161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Hid</a:t>
            </a: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den Dependency Graph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1389" y="5825826"/>
            <a:ext cx="2926280" cy="63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Unseen conn</a:t>
            </a: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ections drive outcomes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76540" y="2700056"/>
            <a:ext cx="3031141" cy="0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59558" y="4280371"/>
            <a:ext cx="1948124" cy="0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1982641" y="5861521"/>
            <a:ext cx="1325041" cy="0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2751352" y="7613575"/>
            <a:ext cx="556330" cy="0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696038" y="2162399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Sys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96038" y="3743131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Process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96038" y="2637639"/>
            <a:ext cx="241082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lutions implemented in real conditions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96038" y="4218372"/>
            <a:ext cx="241082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lutions implemented in real conditions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96038" y="5323863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96038" y="5799104"/>
            <a:ext cx="241082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lutions implemented in real conditions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96038" y="7075917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External 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Acto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96038" y="7551158"/>
            <a:ext cx="241082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lutions implemented in real conditions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36419" y="2637639"/>
            <a:ext cx="525876" cy="526881"/>
            <a:chOff x="0" y="0"/>
            <a:chExt cx="812800" cy="8143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74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36419" y="5704937"/>
            <a:ext cx="525876" cy="526881"/>
            <a:chOff x="0" y="0"/>
            <a:chExt cx="812800" cy="8143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2F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36419" y="4063631"/>
            <a:ext cx="525876" cy="526881"/>
            <a:chOff x="0" y="0"/>
            <a:chExt cx="812800" cy="8143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AD94EA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 spc="-30" strike="noStrike" u="none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36419" y="7350135"/>
            <a:ext cx="525876" cy="526881"/>
            <a:chOff x="0" y="0"/>
            <a:chExt cx="812800" cy="8143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9C3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4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-2085609" y="-747896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8" y="0"/>
                </a:lnTo>
                <a:lnTo>
                  <a:pt x="6228618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08040" y="8084558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57972" y="1341110"/>
            <a:ext cx="6017679" cy="72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Constr</a:t>
            </a: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aint Pressure 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60181" y="2194135"/>
            <a:ext cx="5213263" cy="32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Where </a:t>
            </a: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constraints accumulate and intensify</a:t>
            </a:r>
          </a:p>
        </p:txBody>
      </p:sp>
      <p:sp>
        <p:nvSpPr>
          <p:cNvPr name="AutoShape 4" id="4"/>
          <p:cNvSpPr/>
          <p:nvPr/>
        </p:nvSpPr>
        <p:spPr>
          <a:xfrm>
            <a:off x="2505212" y="6387928"/>
            <a:ext cx="13277576" cy="0"/>
          </a:xfrm>
          <a:prstGeom prst="line">
            <a:avLst/>
          </a:prstGeom>
          <a:ln cap="flat" w="28575">
            <a:gradFill>
              <a:gsLst>
                <a:gs pos="0">
                  <a:srgbClr val="BEECAB">
                    <a:alpha val="100000"/>
                  </a:srgbClr>
                </a:gs>
                <a:gs pos="100000">
                  <a:srgbClr val="FF3131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triangle" len="med" w="lg"/>
          </a:ln>
        </p:spPr>
      </p:sp>
      <p:sp>
        <p:nvSpPr>
          <p:cNvPr name="AutoShape 5" id="5"/>
          <p:cNvSpPr/>
          <p:nvPr/>
        </p:nvSpPr>
        <p:spPr>
          <a:xfrm flipH="true">
            <a:off x="4320338" y="5465220"/>
            <a:ext cx="0" cy="594703"/>
          </a:xfrm>
          <a:prstGeom prst="line">
            <a:avLst/>
          </a:prstGeom>
          <a:ln cap="flat" w="38100">
            <a:solidFill>
              <a:srgbClr val="AD94EA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4320338" y="6711778"/>
            <a:ext cx="0" cy="594703"/>
          </a:xfrm>
          <a:prstGeom prst="line">
            <a:avLst/>
          </a:prstGeom>
          <a:ln cap="flat" w="38100">
            <a:solidFill>
              <a:srgbClr val="FF7400"/>
            </a:solidFill>
            <a:prstDash val="sysDash"/>
            <a:headEnd type="none" len="sm" w="sm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 flipH="true">
            <a:off x="9144000" y="5465220"/>
            <a:ext cx="0" cy="594703"/>
          </a:xfrm>
          <a:prstGeom prst="line">
            <a:avLst/>
          </a:prstGeom>
          <a:ln cap="flat" w="38100">
            <a:solidFill>
              <a:srgbClr val="F9C300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9144000" y="6711778"/>
            <a:ext cx="0" cy="594703"/>
          </a:xfrm>
          <a:prstGeom prst="line">
            <a:avLst/>
          </a:prstGeom>
          <a:ln cap="flat" w="38100">
            <a:solidFill>
              <a:srgbClr val="E2A9F1"/>
            </a:solidFill>
            <a:prstDash val="sysDash"/>
            <a:headEnd type="none" len="sm" w="sm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 flipH="true">
            <a:off x="13967662" y="5465220"/>
            <a:ext cx="0" cy="594703"/>
          </a:xfrm>
          <a:prstGeom prst="line">
            <a:avLst/>
          </a:prstGeom>
          <a:ln cap="flat" w="38100">
            <a:solidFill>
              <a:srgbClr val="00B2F9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13967662" y="6711778"/>
            <a:ext cx="0" cy="594703"/>
          </a:xfrm>
          <a:prstGeom prst="line">
            <a:avLst/>
          </a:prstGeom>
          <a:ln cap="flat" w="38100">
            <a:solidFill>
              <a:srgbClr val="7ED957"/>
            </a:solidFill>
            <a:prstDash val="sysDash"/>
            <a:headEnd type="none" len="sm" w="sm"/>
            <a:tailEnd type="oval" len="lg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3114926" y="4263755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Time 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compr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14926" y="7535080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Budget 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ceilings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38588" y="4263755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Skill s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car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38588" y="7535080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Tool limita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14926" y="4738996"/>
            <a:ext cx="2410823" cy="53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lutions implemented in real conditions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14926" y="8010321"/>
            <a:ext cx="2410823" cy="53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lutions implemented in real conditions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38588" y="4738996"/>
            <a:ext cx="2410823" cy="53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lutions implemented in real conditions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38588" y="8010321"/>
            <a:ext cx="2410823" cy="53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lutions implemented in real conditions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68538" y="6121153"/>
            <a:ext cx="1197782" cy="53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-36">
                <a:solidFill>
                  <a:srgbClr val="000000">
                    <a:alpha val="4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More Pressure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121153"/>
            <a:ext cx="1190549" cy="53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-36">
                <a:solidFill>
                  <a:srgbClr val="000000">
                    <a:alpha val="4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Low Pressure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62073" y="4263755"/>
            <a:ext cx="2811177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Governan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ce over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head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62250" y="7535080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Market volatili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62250" y="4738996"/>
            <a:ext cx="2410823" cy="53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lutions implemented in real conditions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62250" y="8010321"/>
            <a:ext cx="2410823" cy="53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</a:t>
            </a: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lutions implemented in real conditions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218397" y="536524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2973730" y="7967117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8" y="0"/>
                </a:lnTo>
                <a:lnTo>
                  <a:pt x="6228618" y="2672643"/>
                </a:lnTo>
                <a:lnTo>
                  <a:pt x="0" y="2672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25695" y="1435155"/>
            <a:ext cx="4743294" cy="725381"/>
            <a:chOff x="0" y="0"/>
            <a:chExt cx="1249262" cy="191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9263" cy="191047"/>
            </a:xfrm>
            <a:custGeom>
              <a:avLst/>
              <a:gdLst/>
              <a:ahLst/>
              <a:cxnLst/>
              <a:rect r="r" b="b" t="t" l="l"/>
              <a:pathLst>
                <a:path h="191047" w="1249263">
                  <a:moveTo>
                    <a:pt x="95523" y="0"/>
                  </a:moveTo>
                  <a:lnTo>
                    <a:pt x="1153739" y="0"/>
                  </a:lnTo>
                  <a:cubicBezTo>
                    <a:pt x="1206495" y="0"/>
                    <a:pt x="1249263" y="42767"/>
                    <a:pt x="1249263" y="95523"/>
                  </a:cubicBezTo>
                  <a:lnTo>
                    <a:pt x="1249263" y="95523"/>
                  </a:lnTo>
                  <a:cubicBezTo>
                    <a:pt x="1249263" y="120858"/>
                    <a:pt x="1239198" y="145155"/>
                    <a:pt x="1221284" y="163069"/>
                  </a:cubicBezTo>
                  <a:cubicBezTo>
                    <a:pt x="1203370" y="180983"/>
                    <a:pt x="1179073" y="191047"/>
                    <a:pt x="1153739" y="191047"/>
                  </a:cubicBezTo>
                  <a:lnTo>
                    <a:pt x="95523" y="191047"/>
                  </a:lnTo>
                  <a:cubicBezTo>
                    <a:pt x="70189" y="191047"/>
                    <a:pt x="45892" y="180983"/>
                    <a:pt x="27978" y="163069"/>
                  </a:cubicBezTo>
                  <a:cubicBezTo>
                    <a:pt x="10064" y="145155"/>
                    <a:pt x="0" y="120858"/>
                    <a:pt x="0" y="95523"/>
                  </a:cubicBezTo>
                  <a:lnTo>
                    <a:pt x="0" y="95523"/>
                  </a:lnTo>
                  <a:cubicBezTo>
                    <a:pt x="0" y="70189"/>
                    <a:pt x="10064" y="45892"/>
                    <a:pt x="27978" y="27978"/>
                  </a:cubicBezTo>
                  <a:cubicBezTo>
                    <a:pt x="45892" y="10064"/>
                    <a:pt x="70189" y="0"/>
                    <a:pt x="95523" y="0"/>
                  </a:cubicBezTo>
                  <a:close/>
                </a:path>
              </a:pathLst>
            </a:custGeom>
            <a:solidFill>
              <a:srgbClr val="00B2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249262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40049" y="2550373"/>
            <a:ext cx="4743294" cy="725381"/>
            <a:chOff x="0" y="0"/>
            <a:chExt cx="1249262" cy="1910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9263" cy="191047"/>
            </a:xfrm>
            <a:custGeom>
              <a:avLst/>
              <a:gdLst/>
              <a:ahLst/>
              <a:cxnLst/>
              <a:rect r="r" b="b" t="t" l="l"/>
              <a:pathLst>
                <a:path h="191047" w="1249263">
                  <a:moveTo>
                    <a:pt x="95523" y="0"/>
                  </a:moveTo>
                  <a:lnTo>
                    <a:pt x="1153739" y="0"/>
                  </a:lnTo>
                  <a:cubicBezTo>
                    <a:pt x="1206495" y="0"/>
                    <a:pt x="1249263" y="42767"/>
                    <a:pt x="1249263" y="95523"/>
                  </a:cubicBezTo>
                  <a:lnTo>
                    <a:pt x="1249263" y="95523"/>
                  </a:lnTo>
                  <a:cubicBezTo>
                    <a:pt x="1249263" y="120858"/>
                    <a:pt x="1239198" y="145155"/>
                    <a:pt x="1221284" y="163069"/>
                  </a:cubicBezTo>
                  <a:cubicBezTo>
                    <a:pt x="1203370" y="180983"/>
                    <a:pt x="1179073" y="191047"/>
                    <a:pt x="1153739" y="191047"/>
                  </a:cubicBezTo>
                  <a:lnTo>
                    <a:pt x="95523" y="191047"/>
                  </a:lnTo>
                  <a:cubicBezTo>
                    <a:pt x="70189" y="191047"/>
                    <a:pt x="45892" y="180983"/>
                    <a:pt x="27978" y="163069"/>
                  </a:cubicBezTo>
                  <a:cubicBezTo>
                    <a:pt x="10064" y="145155"/>
                    <a:pt x="0" y="120858"/>
                    <a:pt x="0" y="95523"/>
                  </a:cubicBezTo>
                  <a:lnTo>
                    <a:pt x="0" y="95523"/>
                  </a:lnTo>
                  <a:cubicBezTo>
                    <a:pt x="0" y="70189"/>
                    <a:pt x="10064" y="45892"/>
                    <a:pt x="27978" y="27978"/>
                  </a:cubicBezTo>
                  <a:cubicBezTo>
                    <a:pt x="45892" y="10064"/>
                    <a:pt x="70189" y="0"/>
                    <a:pt x="95523" y="0"/>
                  </a:cubicBezTo>
                  <a:close/>
                </a:path>
              </a:pathLst>
            </a:custGeom>
            <a:solidFill>
              <a:srgbClr val="AD94E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249262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693467" y="4051449"/>
            <a:ext cx="3028709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spc="-161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Lever</a:t>
            </a: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age</a:t>
            </a:r>
          </a:p>
          <a:p>
            <a:pPr algn="l">
              <a:lnSpc>
                <a:spcPts val="4838"/>
              </a:lnSpc>
            </a:pP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Cascade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02992" y="5482927"/>
            <a:ext cx="302870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Small </a:t>
            </a: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changes that trigger large effects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82987" y="1573970"/>
            <a:ext cx="3028709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Policy adjustment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97342" y="2689189"/>
            <a:ext cx="3028709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io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righ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5695" y="3665591"/>
            <a:ext cx="4743294" cy="725381"/>
            <a:chOff x="0" y="0"/>
            <a:chExt cx="1249262" cy="1910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9263" cy="191047"/>
            </a:xfrm>
            <a:custGeom>
              <a:avLst/>
              <a:gdLst/>
              <a:ahLst/>
              <a:cxnLst/>
              <a:rect r="r" b="b" t="t" l="l"/>
              <a:pathLst>
                <a:path h="191047" w="1249263">
                  <a:moveTo>
                    <a:pt x="95523" y="0"/>
                  </a:moveTo>
                  <a:lnTo>
                    <a:pt x="1153739" y="0"/>
                  </a:lnTo>
                  <a:cubicBezTo>
                    <a:pt x="1206495" y="0"/>
                    <a:pt x="1249263" y="42767"/>
                    <a:pt x="1249263" y="95523"/>
                  </a:cubicBezTo>
                  <a:lnTo>
                    <a:pt x="1249263" y="95523"/>
                  </a:lnTo>
                  <a:cubicBezTo>
                    <a:pt x="1249263" y="120858"/>
                    <a:pt x="1239198" y="145155"/>
                    <a:pt x="1221284" y="163069"/>
                  </a:cubicBezTo>
                  <a:cubicBezTo>
                    <a:pt x="1203370" y="180983"/>
                    <a:pt x="1179073" y="191047"/>
                    <a:pt x="1153739" y="191047"/>
                  </a:cubicBezTo>
                  <a:lnTo>
                    <a:pt x="95523" y="191047"/>
                  </a:lnTo>
                  <a:cubicBezTo>
                    <a:pt x="70189" y="191047"/>
                    <a:pt x="45892" y="180983"/>
                    <a:pt x="27978" y="163069"/>
                  </a:cubicBezTo>
                  <a:cubicBezTo>
                    <a:pt x="10064" y="145155"/>
                    <a:pt x="0" y="120858"/>
                    <a:pt x="0" y="95523"/>
                  </a:cubicBezTo>
                  <a:lnTo>
                    <a:pt x="0" y="95523"/>
                  </a:lnTo>
                  <a:cubicBezTo>
                    <a:pt x="0" y="70189"/>
                    <a:pt x="10064" y="45892"/>
                    <a:pt x="27978" y="27978"/>
                  </a:cubicBezTo>
                  <a:cubicBezTo>
                    <a:pt x="45892" y="10064"/>
                    <a:pt x="70189" y="0"/>
                    <a:pt x="95523" y="0"/>
                  </a:cubicBezTo>
                  <a:close/>
                </a:path>
              </a:pathLst>
            </a:custGeom>
            <a:solidFill>
              <a:srgbClr val="F9C3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249262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40049" y="4780810"/>
            <a:ext cx="4743294" cy="725381"/>
            <a:chOff x="0" y="0"/>
            <a:chExt cx="1249262" cy="1910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9263" cy="191047"/>
            </a:xfrm>
            <a:custGeom>
              <a:avLst/>
              <a:gdLst/>
              <a:ahLst/>
              <a:cxnLst/>
              <a:rect r="r" b="b" t="t" l="l"/>
              <a:pathLst>
                <a:path h="191047" w="1249263">
                  <a:moveTo>
                    <a:pt x="95523" y="0"/>
                  </a:moveTo>
                  <a:lnTo>
                    <a:pt x="1153739" y="0"/>
                  </a:lnTo>
                  <a:cubicBezTo>
                    <a:pt x="1206495" y="0"/>
                    <a:pt x="1249263" y="42767"/>
                    <a:pt x="1249263" y="95523"/>
                  </a:cubicBezTo>
                  <a:lnTo>
                    <a:pt x="1249263" y="95523"/>
                  </a:lnTo>
                  <a:cubicBezTo>
                    <a:pt x="1249263" y="120858"/>
                    <a:pt x="1239198" y="145155"/>
                    <a:pt x="1221284" y="163069"/>
                  </a:cubicBezTo>
                  <a:cubicBezTo>
                    <a:pt x="1203370" y="180983"/>
                    <a:pt x="1179073" y="191047"/>
                    <a:pt x="1153739" y="191047"/>
                  </a:cubicBezTo>
                  <a:lnTo>
                    <a:pt x="95523" y="191047"/>
                  </a:lnTo>
                  <a:cubicBezTo>
                    <a:pt x="70189" y="191047"/>
                    <a:pt x="45892" y="180983"/>
                    <a:pt x="27978" y="163069"/>
                  </a:cubicBezTo>
                  <a:cubicBezTo>
                    <a:pt x="10064" y="145155"/>
                    <a:pt x="0" y="120858"/>
                    <a:pt x="0" y="95523"/>
                  </a:cubicBezTo>
                  <a:lnTo>
                    <a:pt x="0" y="95523"/>
                  </a:lnTo>
                  <a:cubicBezTo>
                    <a:pt x="0" y="70189"/>
                    <a:pt x="10064" y="45892"/>
                    <a:pt x="27978" y="27978"/>
                  </a:cubicBezTo>
                  <a:cubicBezTo>
                    <a:pt x="45892" y="10064"/>
                    <a:pt x="70189" y="0"/>
                    <a:pt x="95523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249262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25695" y="5896028"/>
            <a:ext cx="4743294" cy="725381"/>
            <a:chOff x="0" y="0"/>
            <a:chExt cx="1249262" cy="191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9263" cy="191047"/>
            </a:xfrm>
            <a:custGeom>
              <a:avLst/>
              <a:gdLst/>
              <a:ahLst/>
              <a:cxnLst/>
              <a:rect r="r" b="b" t="t" l="l"/>
              <a:pathLst>
                <a:path h="191047" w="1249263">
                  <a:moveTo>
                    <a:pt x="95523" y="0"/>
                  </a:moveTo>
                  <a:lnTo>
                    <a:pt x="1153739" y="0"/>
                  </a:lnTo>
                  <a:cubicBezTo>
                    <a:pt x="1206495" y="0"/>
                    <a:pt x="1249263" y="42767"/>
                    <a:pt x="1249263" y="95523"/>
                  </a:cubicBezTo>
                  <a:lnTo>
                    <a:pt x="1249263" y="95523"/>
                  </a:lnTo>
                  <a:cubicBezTo>
                    <a:pt x="1249263" y="120858"/>
                    <a:pt x="1239198" y="145155"/>
                    <a:pt x="1221284" y="163069"/>
                  </a:cubicBezTo>
                  <a:cubicBezTo>
                    <a:pt x="1203370" y="180983"/>
                    <a:pt x="1179073" y="191047"/>
                    <a:pt x="1153739" y="191047"/>
                  </a:cubicBezTo>
                  <a:lnTo>
                    <a:pt x="95523" y="191047"/>
                  </a:lnTo>
                  <a:cubicBezTo>
                    <a:pt x="70189" y="191047"/>
                    <a:pt x="45892" y="180983"/>
                    <a:pt x="27978" y="163069"/>
                  </a:cubicBezTo>
                  <a:cubicBezTo>
                    <a:pt x="10064" y="145155"/>
                    <a:pt x="0" y="120858"/>
                    <a:pt x="0" y="95523"/>
                  </a:cubicBezTo>
                  <a:lnTo>
                    <a:pt x="0" y="95523"/>
                  </a:lnTo>
                  <a:cubicBezTo>
                    <a:pt x="0" y="70189"/>
                    <a:pt x="10064" y="45892"/>
                    <a:pt x="27978" y="27978"/>
                  </a:cubicBezTo>
                  <a:cubicBezTo>
                    <a:pt x="45892" y="10064"/>
                    <a:pt x="70189" y="0"/>
                    <a:pt x="95523" y="0"/>
                  </a:cubicBezTo>
                  <a:close/>
                </a:path>
              </a:pathLst>
            </a:custGeom>
            <a:solidFill>
              <a:srgbClr val="FF74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249262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40049" y="7011246"/>
            <a:ext cx="4743294" cy="725381"/>
            <a:chOff x="0" y="0"/>
            <a:chExt cx="1249262" cy="1910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49263" cy="191047"/>
            </a:xfrm>
            <a:custGeom>
              <a:avLst/>
              <a:gdLst/>
              <a:ahLst/>
              <a:cxnLst/>
              <a:rect r="r" b="b" t="t" l="l"/>
              <a:pathLst>
                <a:path h="191047" w="1249263">
                  <a:moveTo>
                    <a:pt x="95523" y="0"/>
                  </a:moveTo>
                  <a:lnTo>
                    <a:pt x="1153739" y="0"/>
                  </a:lnTo>
                  <a:cubicBezTo>
                    <a:pt x="1206495" y="0"/>
                    <a:pt x="1249263" y="42767"/>
                    <a:pt x="1249263" y="95523"/>
                  </a:cubicBezTo>
                  <a:lnTo>
                    <a:pt x="1249263" y="95523"/>
                  </a:lnTo>
                  <a:cubicBezTo>
                    <a:pt x="1249263" y="120858"/>
                    <a:pt x="1239198" y="145155"/>
                    <a:pt x="1221284" y="163069"/>
                  </a:cubicBezTo>
                  <a:cubicBezTo>
                    <a:pt x="1203370" y="180983"/>
                    <a:pt x="1179073" y="191047"/>
                    <a:pt x="1153739" y="191047"/>
                  </a:cubicBezTo>
                  <a:lnTo>
                    <a:pt x="95523" y="191047"/>
                  </a:lnTo>
                  <a:cubicBezTo>
                    <a:pt x="70189" y="191047"/>
                    <a:pt x="45892" y="180983"/>
                    <a:pt x="27978" y="163069"/>
                  </a:cubicBezTo>
                  <a:cubicBezTo>
                    <a:pt x="10064" y="145155"/>
                    <a:pt x="0" y="120858"/>
                    <a:pt x="0" y="95523"/>
                  </a:cubicBezTo>
                  <a:lnTo>
                    <a:pt x="0" y="95523"/>
                  </a:lnTo>
                  <a:cubicBezTo>
                    <a:pt x="0" y="70189"/>
                    <a:pt x="10064" y="45892"/>
                    <a:pt x="27978" y="27978"/>
                  </a:cubicBezTo>
                  <a:cubicBezTo>
                    <a:pt x="45892" y="10064"/>
                    <a:pt x="70189" y="0"/>
                    <a:pt x="95523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249262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25695" y="8126464"/>
            <a:ext cx="4743294" cy="725381"/>
            <a:chOff x="0" y="0"/>
            <a:chExt cx="1249262" cy="1910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49263" cy="191047"/>
            </a:xfrm>
            <a:custGeom>
              <a:avLst/>
              <a:gdLst/>
              <a:ahLst/>
              <a:cxnLst/>
              <a:rect r="r" b="b" t="t" l="l"/>
              <a:pathLst>
                <a:path h="191047" w="1249263">
                  <a:moveTo>
                    <a:pt x="95523" y="0"/>
                  </a:moveTo>
                  <a:lnTo>
                    <a:pt x="1153739" y="0"/>
                  </a:lnTo>
                  <a:cubicBezTo>
                    <a:pt x="1206495" y="0"/>
                    <a:pt x="1249263" y="42767"/>
                    <a:pt x="1249263" y="95523"/>
                  </a:cubicBezTo>
                  <a:lnTo>
                    <a:pt x="1249263" y="95523"/>
                  </a:lnTo>
                  <a:cubicBezTo>
                    <a:pt x="1249263" y="120858"/>
                    <a:pt x="1239198" y="145155"/>
                    <a:pt x="1221284" y="163069"/>
                  </a:cubicBezTo>
                  <a:cubicBezTo>
                    <a:pt x="1203370" y="180983"/>
                    <a:pt x="1179073" y="191047"/>
                    <a:pt x="1153739" y="191047"/>
                  </a:cubicBezTo>
                  <a:lnTo>
                    <a:pt x="95523" y="191047"/>
                  </a:lnTo>
                  <a:cubicBezTo>
                    <a:pt x="70189" y="191047"/>
                    <a:pt x="45892" y="180983"/>
                    <a:pt x="27978" y="163069"/>
                  </a:cubicBezTo>
                  <a:cubicBezTo>
                    <a:pt x="10064" y="145155"/>
                    <a:pt x="0" y="120858"/>
                    <a:pt x="0" y="95523"/>
                  </a:cubicBezTo>
                  <a:lnTo>
                    <a:pt x="0" y="95523"/>
                  </a:lnTo>
                  <a:cubicBezTo>
                    <a:pt x="0" y="70189"/>
                    <a:pt x="10064" y="45892"/>
                    <a:pt x="27978" y="27978"/>
                  </a:cubicBezTo>
                  <a:cubicBezTo>
                    <a:pt x="45892" y="10064"/>
                    <a:pt x="70189" y="0"/>
                    <a:pt x="95523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249262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782987" y="3804407"/>
            <a:ext cx="3028709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entive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d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ig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97342" y="4919625"/>
            <a:ext cx="3028709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Feedba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k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s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82987" y="6034844"/>
            <a:ext cx="3028709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Inf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rmat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on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a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cc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97342" y="7150062"/>
            <a:ext cx="3028709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St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ardiza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io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82987" y="8265280"/>
            <a:ext cx="3028709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Aut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at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io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3271901" y="8126464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-2871117" y="240420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3"/>
                </a:lnTo>
                <a:lnTo>
                  <a:pt x="0" y="2672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5142791" y="3714835"/>
            <a:ext cx="4043071" cy="2028489"/>
          </a:xfrm>
          <a:custGeom>
            <a:avLst/>
            <a:gdLst/>
            <a:ahLst/>
            <a:cxnLst/>
            <a:rect r="r" b="b" t="t" l="l"/>
            <a:pathLst>
              <a:path h="2028489" w="4043071">
                <a:moveTo>
                  <a:pt x="0" y="2028489"/>
                </a:moveTo>
                <a:lnTo>
                  <a:pt x="3814471" y="2028489"/>
                </a:lnTo>
                <a:cubicBezTo>
                  <a:pt x="3940723" y="2028489"/>
                  <a:pt x="4043071" y="1926142"/>
                  <a:pt x="4043071" y="1799889"/>
                </a:cubicBezTo>
                <a:lnTo>
                  <a:pt x="4043071" y="2614"/>
                </a:lnTo>
                <a:cubicBezTo>
                  <a:pt x="4043071" y="1921"/>
                  <a:pt x="4042796" y="1256"/>
                  <a:pt x="4042305" y="766"/>
                </a:cubicBezTo>
                <a:cubicBezTo>
                  <a:pt x="4041815" y="275"/>
                  <a:pt x="4041150" y="0"/>
                  <a:pt x="4040456" y="0"/>
                </a:cubicBezTo>
                <a:lnTo>
                  <a:pt x="4037842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>
            <a:off x="9180633" y="3714835"/>
            <a:ext cx="4010201" cy="2028489"/>
          </a:xfrm>
          <a:custGeom>
            <a:avLst/>
            <a:gdLst/>
            <a:ahLst/>
            <a:cxnLst/>
            <a:rect r="r" b="b" t="t" l="l"/>
            <a:pathLst>
              <a:path h="2028489" w="4010201">
                <a:moveTo>
                  <a:pt x="4010201" y="2028489"/>
                </a:moveTo>
                <a:lnTo>
                  <a:pt x="233829" y="2028489"/>
                </a:lnTo>
                <a:cubicBezTo>
                  <a:pt x="173200" y="2028489"/>
                  <a:pt x="115055" y="2004405"/>
                  <a:pt x="72184" y="1961534"/>
                </a:cubicBezTo>
                <a:cubicBezTo>
                  <a:pt x="29313" y="1918663"/>
                  <a:pt x="5229" y="1860518"/>
                  <a:pt x="5229" y="1799889"/>
                </a:cubicBezTo>
                <a:lnTo>
                  <a:pt x="5229" y="2614"/>
                </a:lnTo>
                <a:cubicBezTo>
                  <a:pt x="5229" y="1921"/>
                  <a:pt x="4954" y="1256"/>
                  <a:pt x="4463" y="766"/>
                </a:cubicBezTo>
                <a:cubicBezTo>
                  <a:pt x="3973" y="275"/>
                  <a:pt x="3308" y="0"/>
                  <a:pt x="2614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>
            <a:off x="8027932" y="3714835"/>
            <a:ext cx="1152700" cy="3757539"/>
          </a:xfrm>
          <a:custGeom>
            <a:avLst/>
            <a:gdLst/>
            <a:ahLst/>
            <a:cxnLst/>
            <a:rect r="r" b="b" t="t" l="l"/>
            <a:pathLst>
              <a:path h="3757539" w="1152700">
                <a:moveTo>
                  <a:pt x="0" y="3757539"/>
                </a:moveTo>
                <a:lnTo>
                  <a:pt x="924101" y="3757539"/>
                </a:lnTo>
                <a:cubicBezTo>
                  <a:pt x="1050353" y="3757539"/>
                  <a:pt x="1152701" y="3655191"/>
                  <a:pt x="1152701" y="3528939"/>
                </a:cubicBezTo>
                <a:lnTo>
                  <a:pt x="1152701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395957" y="5620277"/>
            <a:ext cx="246095" cy="24609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2F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87146" y="5620277"/>
            <a:ext cx="246095" cy="24609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D94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>
            <a:off x="9185862" y="3714835"/>
            <a:ext cx="1121643" cy="3757539"/>
          </a:xfrm>
          <a:custGeom>
            <a:avLst/>
            <a:gdLst/>
            <a:ahLst/>
            <a:cxnLst/>
            <a:rect r="r" b="b" t="t" l="l"/>
            <a:pathLst>
              <a:path h="3757539" w="1121643">
                <a:moveTo>
                  <a:pt x="1121643" y="3757539"/>
                </a:moveTo>
                <a:lnTo>
                  <a:pt x="228600" y="3757539"/>
                </a:lnTo>
                <a:cubicBezTo>
                  <a:pt x="167971" y="3757539"/>
                  <a:pt x="109826" y="3733455"/>
                  <a:pt x="66955" y="3690584"/>
                </a:cubicBezTo>
                <a:cubicBezTo>
                  <a:pt x="24084" y="3647713"/>
                  <a:pt x="0" y="3589568"/>
                  <a:pt x="0" y="3528939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657494" y="7349327"/>
            <a:ext cx="246095" cy="24609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4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31330" y="7349327"/>
            <a:ext cx="246095" cy="24609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C3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87489" y="5380634"/>
            <a:ext cx="2981037" cy="725381"/>
            <a:chOff x="0" y="0"/>
            <a:chExt cx="785129" cy="191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5129" cy="191047"/>
            </a:xfrm>
            <a:custGeom>
              <a:avLst/>
              <a:gdLst/>
              <a:ahLst/>
              <a:cxnLst/>
              <a:rect r="r" b="b" t="t" l="l"/>
              <a:pathLst>
                <a:path h="191047" w="785129">
                  <a:moveTo>
                    <a:pt x="95523" y="0"/>
                  </a:moveTo>
                  <a:lnTo>
                    <a:pt x="689606" y="0"/>
                  </a:lnTo>
                  <a:cubicBezTo>
                    <a:pt x="742362" y="0"/>
                    <a:pt x="785129" y="42767"/>
                    <a:pt x="785129" y="95523"/>
                  </a:cubicBezTo>
                  <a:lnTo>
                    <a:pt x="785129" y="95523"/>
                  </a:lnTo>
                  <a:cubicBezTo>
                    <a:pt x="785129" y="120858"/>
                    <a:pt x="775065" y="145155"/>
                    <a:pt x="757151" y="163069"/>
                  </a:cubicBezTo>
                  <a:cubicBezTo>
                    <a:pt x="739237" y="180983"/>
                    <a:pt x="714940" y="191047"/>
                    <a:pt x="689606" y="191047"/>
                  </a:cubicBezTo>
                  <a:lnTo>
                    <a:pt x="95523" y="191047"/>
                  </a:lnTo>
                  <a:cubicBezTo>
                    <a:pt x="70189" y="191047"/>
                    <a:pt x="45892" y="180983"/>
                    <a:pt x="27978" y="163069"/>
                  </a:cubicBezTo>
                  <a:cubicBezTo>
                    <a:pt x="10064" y="145155"/>
                    <a:pt x="0" y="120858"/>
                    <a:pt x="0" y="95523"/>
                  </a:cubicBezTo>
                  <a:lnTo>
                    <a:pt x="0" y="95523"/>
                  </a:lnTo>
                  <a:cubicBezTo>
                    <a:pt x="0" y="70189"/>
                    <a:pt x="10064" y="45892"/>
                    <a:pt x="27978" y="27978"/>
                  </a:cubicBezTo>
                  <a:cubicBezTo>
                    <a:pt x="45892" y="10064"/>
                    <a:pt x="70189" y="0"/>
                    <a:pt x="95523" y="0"/>
                  </a:cubicBezTo>
                  <a:close/>
                </a:path>
              </a:pathLst>
            </a:custGeom>
            <a:solidFill>
              <a:srgbClr val="AD94E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785129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939239" y="5380634"/>
            <a:ext cx="2981037" cy="725381"/>
            <a:chOff x="0" y="0"/>
            <a:chExt cx="785129" cy="1910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5129" cy="191047"/>
            </a:xfrm>
            <a:custGeom>
              <a:avLst/>
              <a:gdLst/>
              <a:ahLst/>
              <a:cxnLst/>
              <a:rect r="r" b="b" t="t" l="l"/>
              <a:pathLst>
                <a:path h="191047" w="785129">
                  <a:moveTo>
                    <a:pt x="95523" y="0"/>
                  </a:moveTo>
                  <a:lnTo>
                    <a:pt x="689606" y="0"/>
                  </a:lnTo>
                  <a:cubicBezTo>
                    <a:pt x="742362" y="0"/>
                    <a:pt x="785129" y="42767"/>
                    <a:pt x="785129" y="95523"/>
                  </a:cubicBezTo>
                  <a:lnTo>
                    <a:pt x="785129" y="95523"/>
                  </a:lnTo>
                  <a:cubicBezTo>
                    <a:pt x="785129" y="120858"/>
                    <a:pt x="775065" y="145155"/>
                    <a:pt x="757151" y="163069"/>
                  </a:cubicBezTo>
                  <a:cubicBezTo>
                    <a:pt x="739237" y="180983"/>
                    <a:pt x="714940" y="191047"/>
                    <a:pt x="689606" y="191047"/>
                  </a:cubicBezTo>
                  <a:lnTo>
                    <a:pt x="95523" y="191047"/>
                  </a:lnTo>
                  <a:cubicBezTo>
                    <a:pt x="70189" y="191047"/>
                    <a:pt x="45892" y="180983"/>
                    <a:pt x="27978" y="163069"/>
                  </a:cubicBezTo>
                  <a:cubicBezTo>
                    <a:pt x="10064" y="145155"/>
                    <a:pt x="0" y="120858"/>
                    <a:pt x="0" y="95523"/>
                  </a:cubicBezTo>
                  <a:lnTo>
                    <a:pt x="0" y="95523"/>
                  </a:lnTo>
                  <a:cubicBezTo>
                    <a:pt x="0" y="70189"/>
                    <a:pt x="10064" y="45892"/>
                    <a:pt x="27978" y="27978"/>
                  </a:cubicBezTo>
                  <a:cubicBezTo>
                    <a:pt x="45892" y="10064"/>
                    <a:pt x="70189" y="0"/>
                    <a:pt x="95523" y="0"/>
                  </a:cubicBezTo>
                  <a:close/>
                </a:path>
              </a:pathLst>
            </a:custGeom>
            <a:solidFill>
              <a:srgbClr val="00B2F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785129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518035" y="7109684"/>
            <a:ext cx="2981037" cy="725381"/>
            <a:chOff x="0" y="0"/>
            <a:chExt cx="785129" cy="1910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5129" cy="191047"/>
            </a:xfrm>
            <a:custGeom>
              <a:avLst/>
              <a:gdLst/>
              <a:ahLst/>
              <a:cxnLst/>
              <a:rect r="r" b="b" t="t" l="l"/>
              <a:pathLst>
                <a:path h="191047" w="785129">
                  <a:moveTo>
                    <a:pt x="95523" y="0"/>
                  </a:moveTo>
                  <a:lnTo>
                    <a:pt x="689606" y="0"/>
                  </a:lnTo>
                  <a:cubicBezTo>
                    <a:pt x="742362" y="0"/>
                    <a:pt x="785129" y="42767"/>
                    <a:pt x="785129" y="95523"/>
                  </a:cubicBezTo>
                  <a:lnTo>
                    <a:pt x="785129" y="95523"/>
                  </a:lnTo>
                  <a:cubicBezTo>
                    <a:pt x="785129" y="120858"/>
                    <a:pt x="775065" y="145155"/>
                    <a:pt x="757151" y="163069"/>
                  </a:cubicBezTo>
                  <a:cubicBezTo>
                    <a:pt x="739237" y="180983"/>
                    <a:pt x="714940" y="191047"/>
                    <a:pt x="689606" y="191047"/>
                  </a:cubicBezTo>
                  <a:lnTo>
                    <a:pt x="95523" y="191047"/>
                  </a:lnTo>
                  <a:cubicBezTo>
                    <a:pt x="70189" y="191047"/>
                    <a:pt x="45892" y="180983"/>
                    <a:pt x="27978" y="163069"/>
                  </a:cubicBezTo>
                  <a:cubicBezTo>
                    <a:pt x="10064" y="145155"/>
                    <a:pt x="0" y="120858"/>
                    <a:pt x="0" y="95523"/>
                  </a:cubicBezTo>
                  <a:lnTo>
                    <a:pt x="0" y="95523"/>
                  </a:lnTo>
                  <a:cubicBezTo>
                    <a:pt x="0" y="70189"/>
                    <a:pt x="10064" y="45892"/>
                    <a:pt x="27978" y="27978"/>
                  </a:cubicBezTo>
                  <a:cubicBezTo>
                    <a:pt x="45892" y="10064"/>
                    <a:pt x="70189" y="0"/>
                    <a:pt x="95523" y="0"/>
                  </a:cubicBezTo>
                  <a:close/>
                </a:path>
              </a:pathLst>
            </a:custGeom>
            <a:solidFill>
              <a:srgbClr val="FF74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785129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886975" y="7109684"/>
            <a:ext cx="2981037" cy="725381"/>
            <a:chOff x="0" y="0"/>
            <a:chExt cx="785129" cy="1910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5129" cy="191047"/>
            </a:xfrm>
            <a:custGeom>
              <a:avLst/>
              <a:gdLst/>
              <a:ahLst/>
              <a:cxnLst/>
              <a:rect r="r" b="b" t="t" l="l"/>
              <a:pathLst>
                <a:path h="191047" w="785129">
                  <a:moveTo>
                    <a:pt x="95523" y="0"/>
                  </a:moveTo>
                  <a:lnTo>
                    <a:pt x="689606" y="0"/>
                  </a:lnTo>
                  <a:cubicBezTo>
                    <a:pt x="742362" y="0"/>
                    <a:pt x="785129" y="42767"/>
                    <a:pt x="785129" y="95523"/>
                  </a:cubicBezTo>
                  <a:lnTo>
                    <a:pt x="785129" y="95523"/>
                  </a:lnTo>
                  <a:cubicBezTo>
                    <a:pt x="785129" y="120858"/>
                    <a:pt x="775065" y="145155"/>
                    <a:pt x="757151" y="163069"/>
                  </a:cubicBezTo>
                  <a:cubicBezTo>
                    <a:pt x="739237" y="180983"/>
                    <a:pt x="714940" y="191047"/>
                    <a:pt x="689606" y="191047"/>
                  </a:cubicBezTo>
                  <a:lnTo>
                    <a:pt x="95523" y="191047"/>
                  </a:lnTo>
                  <a:cubicBezTo>
                    <a:pt x="70189" y="191047"/>
                    <a:pt x="45892" y="180983"/>
                    <a:pt x="27978" y="163069"/>
                  </a:cubicBezTo>
                  <a:cubicBezTo>
                    <a:pt x="10064" y="145155"/>
                    <a:pt x="0" y="120858"/>
                    <a:pt x="0" y="95523"/>
                  </a:cubicBezTo>
                  <a:lnTo>
                    <a:pt x="0" y="95523"/>
                  </a:lnTo>
                  <a:cubicBezTo>
                    <a:pt x="0" y="70189"/>
                    <a:pt x="10064" y="45892"/>
                    <a:pt x="27978" y="27978"/>
                  </a:cubicBezTo>
                  <a:cubicBezTo>
                    <a:pt x="45892" y="10064"/>
                    <a:pt x="70189" y="0"/>
                    <a:pt x="95523" y="0"/>
                  </a:cubicBezTo>
                  <a:close/>
                </a:path>
              </a:pathLst>
            </a:custGeom>
            <a:solidFill>
              <a:srgbClr val="F9C3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785129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4218397" y="536524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2973730" y="7967117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8" y="0"/>
                </a:lnTo>
                <a:lnTo>
                  <a:pt x="6228618" y="2672643"/>
                </a:lnTo>
                <a:lnTo>
                  <a:pt x="0" y="2672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400000">
            <a:off x="8745672" y="3031886"/>
            <a:ext cx="842281" cy="1196844"/>
          </a:xfrm>
          <a:custGeom>
            <a:avLst/>
            <a:gdLst/>
            <a:ahLst/>
            <a:cxnLst/>
            <a:rect r="r" b="b" t="t" l="l"/>
            <a:pathLst>
              <a:path h="1196844" w="842281">
                <a:moveTo>
                  <a:pt x="0" y="0"/>
                </a:moveTo>
                <a:lnTo>
                  <a:pt x="842281" y="0"/>
                </a:lnTo>
                <a:lnTo>
                  <a:pt x="842281" y="1196844"/>
                </a:lnTo>
                <a:lnTo>
                  <a:pt x="0" y="1196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44474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296755" y="1341110"/>
            <a:ext cx="5740115" cy="72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Scenario Expans</a:t>
            </a: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ion Map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51469" y="2194135"/>
            <a:ext cx="3230687" cy="32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One de</a:t>
            </a: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cision, many futures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47660" y="5519450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 response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224346" y="5519450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rnal capacity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687146" y="7248500"/>
            <a:ext cx="2642815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Compe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titor reaction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374019" y="7248500"/>
            <a:ext cx="2006947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Ex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ternal shocks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26481" y="3826924"/>
            <a:ext cx="4182857" cy="930564"/>
            <a:chOff x="0" y="0"/>
            <a:chExt cx="182675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6757" cy="406400"/>
            </a:xfrm>
            <a:custGeom>
              <a:avLst/>
              <a:gdLst/>
              <a:ahLst/>
              <a:cxnLst/>
              <a:rect r="r" b="b" t="t" l="l"/>
              <a:pathLst>
                <a:path h="406400" w="1826757">
                  <a:moveTo>
                    <a:pt x="162355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623557" y="406400"/>
                  </a:lnTo>
                  <a:lnTo>
                    <a:pt x="1826757" y="203200"/>
                  </a:lnTo>
                  <a:lnTo>
                    <a:pt x="1623557" y="0"/>
                  </a:lnTo>
                  <a:close/>
                </a:path>
              </a:pathLst>
            </a:custGeom>
            <a:solidFill>
              <a:srgbClr val="AD94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71245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4278662" y="3826924"/>
            <a:ext cx="4182857" cy="930564"/>
            <a:chOff x="0" y="0"/>
            <a:chExt cx="1826757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6757" cy="406400"/>
            </a:xfrm>
            <a:custGeom>
              <a:avLst/>
              <a:gdLst/>
              <a:ahLst/>
              <a:cxnLst/>
              <a:rect r="r" b="b" t="t" l="l"/>
              <a:pathLst>
                <a:path h="406400" w="1826757">
                  <a:moveTo>
                    <a:pt x="162355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623557" y="406400"/>
                  </a:lnTo>
                  <a:lnTo>
                    <a:pt x="1826757" y="203200"/>
                  </a:lnTo>
                  <a:lnTo>
                    <a:pt x="1623557" y="0"/>
                  </a:lnTo>
                  <a:close/>
                </a:path>
              </a:pathLst>
            </a:custGeom>
            <a:solidFill>
              <a:srgbClr val="00B2F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71245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416561" y="1341110"/>
            <a:ext cx="5500501" cy="72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Execution Real</a:t>
            </a: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ity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18007" y="2194135"/>
            <a:ext cx="4097610" cy="32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Why plans </a:t>
            </a: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change in the real world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26481" y="7732016"/>
            <a:ext cx="4182857" cy="930564"/>
            <a:chOff x="0" y="0"/>
            <a:chExt cx="1826757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6757" cy="406400"/>
            </a:xfrm>
            <a:custGeom>
              <a:avLst/>
              <a:gdLst/>
              <a:ahLst/>
              <a:cxnLst/>
              <a:rect r="r" b="b" t="t" l="l"/>
              <a:pathLst>
                <a:path h="406400" w="1826757">
                  <a:moveTo>
                    <a:pt x="162355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623557" y="406400"/>
                  </a:lnTo>
                  <a:lnTo>
                    <a:pt x="1826757" y="203200"/>
                  </a:lnTo>
                  <a:lnTo>
                    <a:pt x="1623557" y="0"/>
                  </a:ln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71245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4278662" y="7732016"/>
            <a:ext cx="4182857" cy="930564"/>
            <a:chOff x="0" y="0"/>
            <a:chExt cx="1826757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6757" cy="406400"/>
            </a:xfrm>
            <a:custGeom>
              <a:avLst/>
              <a:gdLst/>
              <a:ahLst/>
              <a:cxnLst/>
              <a:rect r="r" b="b" t="t" l="l"/>
              <a:pathLst>
                <a:path h="406400" w="1826757">
                  <a:moveTo>
                    <a:pt x="162355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623557" y="406400"/>
                  </a:lnTo>
                  <a:lnTo>
                    <a:pt x="1826757" y="203200"/>
                  </a:lnTo>
                  <a:lnTo>
                    <a:pt x="1623557" y="0"/>
                  </a:lnTo>
                  <a:close/>
                </a:path>
              </a:pathLst>
            </a:custGeom>
            <a:solidFill>
              <a:srgbClr val="F9C3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71245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474215" y="4068331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Stra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tegic Intent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89469" y="4068331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Formal Pla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98777" y="8000859"/>
            <a:ext cx="2586261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Environmental No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89469" y="8000859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Actual Ou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tcome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9144000" y="4292205"/>
            <a:ext cx="0" cy="5994795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8198581" y="4029267"/>
            <a:ext cx="525876" cy="526881"/>
            <a:chOff x="0" y="0"/>
            <a:chExt cx="812800" cy="8143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2F9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63543" y="4029267"/>
            <a:ext cx="525876" cy="526881"/>
            <a:chOff x="0" y="0"/>
            <a:chExt cx="812800" cy="8143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AD94E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4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198581" y="7961796"/>
            <a:ext cx="525876" cy="526881"/>
            <a:chOff x="0" y="0"/>
            <a:chExt cx="812800" cy="8143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9C3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63543" y="7961796"/>
            <a:ext cx="525876" cy="526881"/>
            <a:chOff x="0" y="0"/>
            <a:chExt cx="812800" cy="81435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2A9F1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6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8857019" y="4311255"/>
            <a:ext cx="573962" cy="0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9826481" y="5779470"/>
            <a:ext cx="4182857" cy="930564"/>
            <a:chOff x="0" y="0"/>
            <a:chExt cx="1826757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26757" cy="406400"/>
            </a:xfrm>
            <a:custGeom>
              <a:avLst/>
              <a:gdLst/>
              <a:ahLst/>
              <a:cxnLst/>
              <a:rect r="r" b="b" t="t" l="l"/>
              <a:pathLst>
                <a:path h="406400" w="1826757">
                  <a:moveTo>
                    <a:pt x="162355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623557" y="406400"/>
                  </a:lnTo>
                  <a:lnTo>
                    <a:pt x="1826757" y="203200"/>
                  </a:lnTo>
                  <a:lnTo>
                    <a:pt x="1623557" y="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71245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10800000">
            <a:off x="4278662" y="5779470"/>
            <a:ext cx="4182857" cy="930564"/>
            <a:chOff x="0" y="0"/>
            <a:chExt cx="1826757" cy="406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6757" cy="406400"/>
            </a:xfrm>
            <a:custGeom>
              <a:avLst/>
              <a:gdLst/>
              <a:ahLst/>
              <a:cxnLst/>
              <a:rect r="r" b="b" t="t" l="l"/>
              <a:pathLst>
                <a:path h="406400" w="1826757">
                  <a:moveTo>
                    <a:pt x="162355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623557" y="406400"/>
                  </a:lnTo>
                  <a:lnTo>
                    <a:pt x="1826757" y="203200"/>
                  </a:lnTo>
                  <a:lnTo>
                    <a:pt x="1623557" y="0"/>
                  </a:lnTo>
                  <a:close/>
                </a:path>
              </a:pathLst>
            </a:custGeom>
            <a:solidFill>
              <a:srgbClr val="FF74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71245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4855143" y="6020877"/>
            <a:ext cx="3029895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Operational Reality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89469" y="6020877"/>
            <a:ext cx="2410823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Human Behav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ior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198581" y="5981814"/>
            <a:ext cx="525876" cy="526881"/>
            <a:chOff x="0" y="0"/>
            <a:chExt cx="812800" cy="81435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74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 spc="-30" strike="noStrike" u="none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63543" y="5981814"/>
            <a:ext cx="525876" cy="526881"/>
            <a:chOff x="0" y="0"/>
            <a:chExt cx="812800" cy="81435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ED957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5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>
            <a:off x="8857019" y="6245254"/>
            <a:ext cx="573962" cy="0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8857019" y="8225236"/>
            <a:ext cx="573962" cy="0"/>
          </a:xfrm>
          <a:prstGeom prst="line">
            <a:avLst/>
          </a:prstGeom>
          <a:ln cap="flat" w="38100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-2863182" y="7629574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5371413" y="2203660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9" y="0"/>
                </a:lnTo>
                <a:lnTo>
                  <a:pt x="6228619" y="2672643"/>
                </a:lnTo>
                <a:lnTo>
                  <a:pt x="0" y="2672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1768" y="1135811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8" y="0"/>
                </a:lnTo>
                <a:lnTo>
                  <a:pt x="6228618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75860" y="1257937"/>
            <a:ext cx="7771127" cy="777112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4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82207" y="2670629"/>
            <a:ext cx="6358434" cy="635843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C3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49147" y="4004511"/>
            <a:ext cx="5024553" cy="502455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D94E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10625" y="5327466"/>
            <a:ext cx="3701598" cy="370159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74018" y="6654251"/>
            <a:ext cx="2374812" cy="237481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2F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017042" y="3694155"/>
            <a:ext cx="4185684" cy="194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spc="-161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Learning Integra</a:t>
            </a:r>
            <a:r>
              <a:rPr lang="en-US" b="true" sz="4032" spc="-16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tion Network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17042" y="5803038"/>
            <a:ext cx="3530949" cy="63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How experience be</a:t>
            </a:r>
            <a:r>
              <a:rPr lang="en-US" sz="2100" spc="-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comes institutional knowledge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26051" y="7774982"/>
            <a:ext cx="1470745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26051" y="5903087"/>
            <a:ext cx="1470745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26051" y="4574916"/>
            <a:ext cx="1470745" cy="3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Reflection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00037" y="3251961"/>
            <a:ext cx="2122773" cy="51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Cultural Norm</a:t>
            </a:r>
            <a:r>
              <a:rPr lang="en-US" b="true" sz="2100" spc="-42" strike="noStrike" u="non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042311" y="1755311"/>
            <a:ext cx="2038224" cy="50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Documentation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793904" y="1516084"/>
            <a:ext cx="525876" cy="526881"/>
            <a:chOff x="0" y="0"/>
            <a:chExt cx="812800" cy="8143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74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5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63095" y="3017994"/>
            <a:ext cx="525876" cy="526881"/>
            <a:chOff x="0" y="0"/>
            <a:chExt cx="812800" cy="8143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9C3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530966" y="4429110"/>
            <a:ext cx="525876" cy="526881"/>
            <a:chOff x="0" y="0"/>
            <a:chExt cx="812800" cy="81435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AD94EA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388971" y="5812563"/>
            <a:ext cx="525876" cy="526881"/>
            <a:chOff x="0" y="0"/>
            <a:chExt cx="812800" cy="81435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ED957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985891" y="7314777"/>
            <a:ext cx="525876" cy="526881"/>
            <a:chOff x="0" y="0"/>
            <a:chExt cx="812800" cy="81435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4353"/>
            </a:xfrm>
            <a:custGeom>
              <a:avLst/>
              <a:gdLst/>
              <a:ahLst/>
              <a:cxnLst/>
              <a:rect r="r" b="b" t="t" l="l"/>
              <a:pathLst>
                <a:path h="814353" w="812800">
                  <a:moveTo>
                    <a:pt x="406400" y="0"/>
                  </a:moveTo>
                  <a:cubicBezTo>
                    <a:pt x="181951" y="0"/>
                    <a:pt x="0" y="182299"/>
                    <a:pt x="0" y="407176"/>
                  </a:cubicBezTo>
                  <a:cubicBezTo>
                    <a:pt x="0" y="632054"/>
                    <a:pt x="181951" y="814353"/>
                    <a:pt x="406400" y="814353"/>
                  </a:cubicBezTo>
                  <a:cubicBezTo>
                    <a:pt x="630849" y="814353"/>
                    <a:pt x="812800" y="632054"/>
                    <a:pt x="812800" y="407176"/>
                  </a:cubicBezTo>
                  <a:cubicBezTo>
                    <a:pt x="812800" y="18229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2F9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721"/>
              <a:ext cx="660400" cy="709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spc="-3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1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668207" y="8323299"/>
            <a:ext cx="6228619" cy="2672644"/>
          </a:xfrm>
          <a:custGeom>
            <a:avLst/>
            <a:gdLst/>
            <a:ahLst/>
            <a:cxnLst/>
            <a:rect r="r" b="b" t="t" l="l"/>
            <a:pathLst>
              <a:path h="2672644" w="6228619">
                <a:moveTo>
                  <a:pt x="0" y="0"/>
                </a:moveTo>
                <a:lnTo>
                  <a:pt x="6228618" y="0"/>
                </a:lnTo>
                <a:lnTo>
                  <a:pt x="6228618" y="2672644"/>
                </a:lnTo>
                <a:lnTo>
                  <a:pt x="0" y="267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DAHKkccTIyI</dc:identifier>
  <dcterms:modified xsi:type="dcterms:W3CDTF">2011-08-01T06:04:30Z</dcterms:modified>
  <cp:revision>1</cp:revision>
</cp:coreProperties>
</file>